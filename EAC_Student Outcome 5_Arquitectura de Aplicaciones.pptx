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420" r:id="rId3"/>
    <p:sldId id="421" r:id="rId4"/>
    <p:sldId id="422" r:id="rId5"/>
    <p:sldId id="261" r:id="rId6"/>
    <p:sldId id="376" r:id="rId7"/>
    <p:sldId id="431" r:id="rId8"/>
    <p:sldId id="425" r:id="rId9"/>
    <p:sldId id="426" r:id="rId10"/>
    <p:sldId id="383" r:id="rId11"/>
    <p:sldId id="424" r:id="rId12"/>
    <p:sldId id="427" r:id="rId13"/>
    <p:sldId id="428" r:id="rId14"/>
    <p:sldId id="429" r:id="rId15"/>
    <p:sldId id="433" r:id="rId16"/>
    <p:sldId id="434" r:id="rId17"/>
    <p:sldId id="435" r:id="rId18"/>
    <p:sldId id="436" r:id="rId19"/>
    <p:sldId id="437" r:id="rId20"/>
    <p:sldId id="438" r:id="rId21"/>
    <p:sldId id="419" r:id="rId22"/>
  </p:sldIdLst>
  <p:sldSz cx="9144000" cy="6858000" type="screen4x3"/>
  <p:notesSz cx="6858000" cy="9144000"/>
  <p:defaultTextStyle>
    <a:defPPr>
      <a:defRPr lang="es-E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7272"/>
    <a:srgbClr val="575756"/>
    <a:srgbClr val="FF0000"/>
    <a:srgbClr val="5A5A5A"/>
    <a:srgbClr val="606060"/>
    <a:srgbClr val="3A3A3A"/>
    <a:srgbClr val="CC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FE84C2-0DD6-D890-4026-C8FDF6BFE6B5}" v="660" dt="2021-06-22T15:28:58.29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3fd6f0848c12bc95f92687b9538489dc26f43a7c793aac546e3f1e00bb509784::" providerId="AD" clId="Web-{D8FE84C2-0DD6-D890-4026-C8FDF6BFE6B5}"/>
    <pc:docChg chg="addSld delSld modSld">
      <pc:chgData name="Guest User" userId="S::urn:spo:anon#3fd6f0848c12bc95f92687b9538489dc26f43a7c793aac546e3f1e00bb509784::" providerId="AD" clId="Web-{D8FE84C2-0DD6-D890-4026-C8FDF6BFE6B5}" dt="2021-06-22T15:28:56.080" v="379" actId="20577"/>
      <pc:docMkLst>
        <pc:docMk/>
      </pc:docMkLst>
      <pc:sldChg chg="modSp">
        <pc:chgData name="Guest User" userId="S::urn:spo:anon#3fd6f0848c12bc95f92687b9538489dc26f43a7c793aac546e3f1e00bb509784::" providerId="AD" clId="Web-{D8FE84C2-0DD6-D890-4026-C8FDF6BFE6B5}" dt="2021-06-22T14:14:24.887" v="16" actId="20577"/>
        <pc:sldMkLst>
          <pc:docMk/>
          <pc:sldMk cId="1689271365" sldId="430"/>
        </pc:sldMkLst>
        <pc:spChg chg="mod">
          <ac:chgData name="Guest User" userId="S::urn:spo:anon#3fd6f0848c12bc95f92687b9538489dc26f43a7c793aac546e3f1e00bb509784::" providerId="AD" clId="Web-{D8FE84C2-0DD6-D890-4026-C8FDF6BFE6B5}" dt="2021-06-22T14:14:24.887" v="16" actId="20577"/>
          <ac:spMkLst>
            <pc:docMk/>
            <pc:sldMk cId="1689271365" sldId="430"/>
            <ac:spMk id="5" creationId="{43542B39-964F-45BD-BB80-796D071379A6}"/>
          </ac:spMkLst>
        </pc:spChg>
      </pc:sldChg>
      <pc:sldChg chg="new del">
        <pc:chgData name="Guest User" userId="S::urn:spo:anon#3fd6f0848c12bc95f92687b9538489dc26f43a7c793aac546e3f1e00bb509784::" providerId="AD" clId="Web-{D8FE84C2-0DD6-D890-4026-C8FDF6BFE6B5}" dt="2021-06-22T14:52:10.783" v="19"/>
        <pc:sldMkLst>
          <pc:docMk/>
          <pc:sldMk cId="2198661117" sldId="432"/>
        </pc:sldMkLst>
      </pc:sldChg>
      <pc:sldChg chg="modSp add replId">
        <pc:chgData name="Guest User" userId="S::urn:spo:anon#3fd6f0848c12bc95f92687b9538489dc26f43a7c793aac546e3f1e00bb509784::" providerId="AD" clId="Web-{D8FE84C2-0DD6-D890-4026-C8FDF6BFE6B5}" dt="2021-06-22T14:55:38.273" v="34" actId="20577"/>
        <pc:sldMkLst>
          <pc:docMk/>
          <pc:sldMk cId="1620844624" sldId="433"/>
        </pc:sldMkLst>
        <pc:spChg chg="mod">
          <ac:chgData name="Guest User" userId="S::urn:spo:anon#3fd6f0848c12bc95f92687b9538489dc26f43a7c793aac546e3f1e00bb509784::" providerId="AD" clId="Web-{D8FE84C2-0DD6-D890-4026-C8FDF6BFE6B5}" dt="2021-06-22T14:52:19.018" v="22" actId="20577"/>
          <ac:spMkLst>
            <pc:docMk/>
            <pc:sldMk cId="1620844624" sldId="433"/>
            <ac:spMk id="2" creationId="{26AA959B-E09F-4DCA-9877-0EE2A49709C6}"/>
          </ac:spMkLst>
        </pc:spChg>
        <pc:spChg chg="mod">
          <ac:chgData name="Guest User" userId="S::urn:spo:anon#3fd6f0848c12bc95f92687b9538489dc26f43a7c793aac546e3f1e00bb509784::" providerId="AD" clId="Web-{D8FE84C2-0DD6-D890-4026-C8FDF6BFE6B5}" dt="2021-06-22T14:55:38.273" v="34" actId="20577"/>
          <ac:spMkLst>
            <pc:docMk/>
            <pc:sldMk cId="1620844624" sldId="433"/>
            <ac:spMk id="3" creationId="{B97376EB-D81C-4EAD-ADE9-4EEE3D7765AB}"/>
          </ac:spMkLst>
        </pc:spChg>
      </pc:sldChg>
      <pc:sldChg chg="modSp add replId">
        <pc:chgData name="Guest User" userId="S::urn:spo:anon#3fd6f0848c12bc95f92687b9538489dc26f43a7c793aac546e3f1e00bb509784::" providerId="AD" clId="Web-{D8FE84C2-0DD6-D890-4026-C8FDF6BFE6B5}" dt="2021-06-22T15:00:32.890" v="109" actId="20577"/>
        <pc:sldMkLst>
          <pc:docMk/>
          <pc:sldMk cId="2556351916" sldId="434"/>
        </pc:sldMkLst>
        <pc:spChg chg="mod">
          <ac:chgData name="Guest User" userId="S::urn:spo:anon#3fd6f0848c12bc95f92687b9538489dc26f43a7c793aac546e3f1e00bb509784::" providerId="AD" clId="Web-{D8FE84C2-0DD6-D890-4026-C8FDF6BFE6B5}" dt="2021-06-22T15:00:32.890" v="109" actId="20577"/>
          <ac:spMkLst>
            <pc:docMk/>
            <pc:sldMk cId="2556351916" sldId="434"/>
            <ac:spMk id="2" creationId="{26AA959B-E09F-4DCA-9877-0EE2A49709C6}"/>
          </ac:spMkLst>
        </pc:spChg>
        <pc:spChg chg="mod">
          <ac:chgData name="Guest User" userId="S::urn:spo:anon#3fd6f0848c12bc95f92687b9538489dc26f43a7c793aac546e3f1e00bb509784::" providerId="AD" clId="Web-{D8FE84C2-0DD6-D890-4026-C8FDF6BFE6B5}" dt="2021-06-22T15:00:10.296" v="99" actId="20577"/>
          <ac:spMkLst>
            <pc:docMk/>
            <pc:sldMk cId="2556351916" sldId="434"/>
            <ac:spMk id="3" creationId="{B97376EB-D81C-4EAD-ADE9-4EEE3D7765AB}"/>
          </ac:spMkLst>
        </pc:spChg>
      </pc:sldChg>
      <pc:sldChg chg="modSp add replId">
        <pc:chgData name="Guest User" userId="S::urn:spo:anon#3fd6f0848c12bc95f92687b9538489dc26f43a7c793aac546e3f1e00bb509784::" providerId="AD" clId="Web-{D8FE84C2-0DD6-D890-4026-C8FDF6BFE6B5}" dt="2021-06-22T15:01:19.157" v="138" actId="20577"/>
        <pc:sldMkLst>
          <pc:docMk/>
          <pc:sldMk cId="798707058" sldId="435"/>
        </pc:sldMkLst>
        <pc:spChg chg="mod">
          <ac:chgData name="Guest User" userId="S::urn:spo:anon#3fd6f0848c12bc95f92687b9538489dc26f43a7c793aac546e3f1e00bb509784::" providerId="AD" clId="Web-{D8FE84C2-0DD6-D890-4026-C8FDF6BFE6B5}" dt="2021-06-22T15:00:50.234" v="113" actId="20577"/>
          <ac:spMkLst>
            <pc:docMk/>
            <pc:sldMk cId="798707058" sldId="435"/>
            <ac:spMk id="2" creationId="{26AA959B-E09F-4DCA-9877-0EE2A49709C6}"/>
          </ac:spMkLst>
        </pc:spChg>
        <pc:spChg chg="mod">
          <ac:chgData name="Guest User" userId="S::urn:spo:anon#3fd6f0848c12bc95f92687b9538489dc26f43a7c793aac546e3f1e00bb509784::" providerId="AD" clId="Web-{D8FE84C2-0DD6-D890-4026-C8FDF6BFE6B5}" dt="2021-06-22T15:01:19.157" v="138" actId="20577"/>
          <ac:spMkLst>
            <pc:docMk/>
            <pc:sldMk cId="798707058" sldId="435"/>
            <ac:spMk id="3" creationId="{B97376EB-D81C-4EAD-ADE9-4EEE3D7765AB}"/>
          </ac:spMkLst>
        </pc:spChg>
      </pc:sldChg>
      <pc:sldChg chg="modSp add replId">
        <pc:chgData name="Guest User" userId="S::urn:spo:anon#3fd6f0848c12bc95f92687b9538489dc26f43a7c793aac546e3f1e00bb509784::" providerId="AD" clId="Web-{D8FE84C2-0DD6-D890-4026-C8FDF6BFE6B5}" dt="2021-06-22T15:25:18.855" v="267" actId="14100"/>
        <pc:sldMkLst>
          <pc:docMk/>
          <pc:sldMk cId="2788547394" sldId="436"/>
        </pc:sldMkLst>
        <pc:spChg chg="mod">
          <ac:chgData name="Guest User" userId="S::urn:spo:anon#3fd6f0848c12bc95f92687b9538489dc26f43a7c793aac546e3f1e00bb509784::" providerId="AD" clId="Web-{D8FE84C2-0DD6-D890-4026-C8FDF6BFE6B5}" dt="2021-06-22T15:21:21.410" v="158" actId="20577"/>
          <ac:spMkLst>
            <pc:docMk/>
            <pc:sldMk cId="2788547394" sldId="436"/>
            <ac:spMk id="2" creationId="{26AA959B-E09F-4DCA-9877-0EE2A49709C6}"/>
          </ac:spMkLst>
        </pc:spChg>
        <pc:spChg chg="mod">
          <ac:chgData name="Guest User" userId="S::urn:spo:anon#3fd6f0848c12bc95f92687b9538489dc26f43a7c793aac546e3f1e00bb509784::" providerId="AD" clId="Web-{D8FE84C2-0DD6-D890-4026-C8FDF6BFE6B5}" dt="2021-06-22T15:25:18.855" v="267" actId="14100"/>
          <ac:spMkLst>
            <pc:docMk/>
            <pc:sldMk cId="2788547394" sldId="436"/>
            <ac:spMk id="3" creationId="{B97376EB-D81C-4EAD-ADE9-4EEE3D7765AB}"/>
          </ac:spMkLst>
        </pc:spChg>
      </pc:sldChg>
      <pc:sldChg chg="modSp add replId">
        <pc:chgData name="Guest User" userId="S::urn:spo:anon#3fd6f0848c12bc95f92687b9538489dc26f43a7c793aac546e3f1e00bb509784::" providerId="AD" clId="Web-{D8FE84C2-0DD6-D890-4026-C8FDF6BFE6B5}" dt="2021-06-22T15:26:42.998" v="313" actId="20577"/>
        <pc:sldMkLst>
          <pc:docMk/>
          <pc:sldMk cId="3078994628" sldId="437"/>
        </pc:sldMkLst>
        <pc:spChg chg="mod">
          <ac:chgData name="Guest User" userId="S::urn:spo:anon#3fd6f0848c12bc95f92687b9538489dc26f43a7c793aac546e3f1e00bb509784::" providerId="AD" clId="Web-{D8FE84C2-0DD6-D890-4026-C8FDF6BFE6B5}" dt="2021-06-22T15:26:42.998" v="313" actId="20577"/>
          <ac:spMkLst>
            <pc:docMk/>
            <pc:sldMk cId="3078994628" sldId="437"/>
            <ac:spMk id="3" creationId="{B97376EB-D81C-4EAD-ADE9-4EEE3D7765AB}"/>
          </ac:spMkLst>
        </pc:spChg>
      </pc:sldChg>
      <pc:sldChg chg="modSp add replId">
        <pc:chgData name="Guest User" userId="S::urn:spo:anon#3fd6f0848c12bc95f92687b9538489dc26f43a7c793aac546e3f1e00bb509784::" providerId="AD" clId="Web-{D8FE84C2-0DD6-D890-4026-C8FDF6BFE6B5}" dt="2021-06-22T15:28:56.080" v="379" actId="20577"/>
        <pc:sldMkLst>
          <pc:docMk/>
          <pc:sldMk cId="2823534733" sldId="438"/>
        </pc:sldMkLst>
        <pc:spChg chg="mod">
          <ac:chgData name="Guest User" userId="S::urn:spo:anon#3fd6f0848c12bc95f92687b9538489dc26f43a7c793aac546e3f1e00bb509784::" providerId="AD" clId="Web-{D8FE84C2-0DD6-D890-4026-C8FDF6BFE6B5}" dt="2021-06-22T15:28:56.080" v="379" actId="20577"/>
          <ac:spMkLst>
            <pc:docMk/>
            <pc:sldMk cId="2823534733" sldId="438"/>
            <ac:spMk id="3" creationId="{B97376EB-D81C-4EAD-ADE9-4EEE3D7765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82AFAE6F-09BA-48BF-94E3-76264B6BCDB4}" type="datetimeFigureOut">
              <a:rPr lang="es-PE"/>
              <a:pPr>
                <a:defRPr/>
              </a:pPr>
              <a:t>02/03/2023</a:t>
            </a:fld>
            <a:endParaRPr lang="es-PE"/>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s-PE"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PE"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E0ED138F-3325-4EFF-BB59-0419E84DCEFB}" type="slidenum">
              <a:rPr lang="es-PE"/>
              <a:pPr>
                <a:defRPr/>
              </a:pPr>
              <a:t>‹Nº›</a:t>
            </a:fld>
            <a:endParaRPr lang="es-PE"/>
          </a:p>
        </p:txBody>
      </p:sp>
    </p:spTree>
    <p:extLst>
      <p:ext uri="{BB962C8B-B14F-4D97-AF65-F5344CB8AC3E}">
        <p14:creationId xmlns:p14="http://schemas.microsoft.com/office/powerpoint/2010/main" val="864637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PE" altLang="es-PE"/>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ABA9E43D-B117-4A2B-B060-61323E4A59FA}" type="slidenum">
              <a:rPr lang="es-PE" altLang="es-PE" smtClean="0"/>
              <a:pPr/>
              <a:t>1</a:t>
            </a:fld>
            <a:endParaRPr lang="es-PE" altLang="es-PE"/>
          </a:p>
        </p:txBody>
      </p:sp>
    </p:spTree>
    <p:extLst>
      <p:ext uri="{BB962C8B-B14F-4D97-AF65-F5344CB8AC3E}">
        <p14:creationId xmlns:p14="http://schemas.microsoft.com/office/powerpoint/2010/main" val="3221606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pPr>
              <a:defRPr/>
            </a:pPr>
            <a:fld id="{E0ED138F-3325-4EFF-BB59-0419E84DCEFB}" type="slidenum">
              <a:rPr lang="es-PE" smtClean="0"/>
              <a:pPr>
                <a:defRPr/>
              </a:pPr>
              <a:t>10</a:t>
            </a:fld>
            <a:endParaRPr lang="es-PE"/>
          </a:p>
        </p:txBody>
      </p:sp>
    </p:spTree>
    <p:extLst>
      <p:ext uri="{BB962C8B-B14F-4D97-AF65-F5344CB8AC3E}">
        <p14:creationId xmlns:p14="http://schemas.microsoft.com/office/powerpoint/2010/main" val="28849544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l="25517" t="21265" r="10732" b="19208"/>
          <a:stretch>
            <a:fillRect/>
          </a:stretch>
        </p:blipFill>
        <p:spPr bwMode="auto">
          <a:xfrm>
            <a:off x="0" y="-58738"/>
            <a:ext cx="9251950" cy="69119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ítulo 1"/>
          <p:cNvSpPr>
            <a:spLocks noGrp="1"/>
          </p:cNvSpPr>
          <p:nvPr>
            <p:ph type="ctrTitle" idx="4294967295"/>
          </p:nvPr>
        </p:nvSpPr>
        <p:spPr>
          <a:xfrm>
            <a:off x="457200" y="2582863"/>
            <a:ext cx="7772400" cy="1470025"/>
          </a:xfrm>
          <a:ln>
            <a:solidFill>
              <a:srgbClr val="4F81BD"/>
            </a:solidFill>
            <a:miter lim="800000"/>
            <a:headEnd/>
            <a:tailEnd/>
          </a:ln>
        </p:spPr>
        <p:txBody>
          <a:bodyPr/>
          <a:lstStyle/>
          <a:p>
            <a:r>
              <a:rPr lang="es-ES" altLang="es-PE" dirty="0"/>
              <a:t>TÍTULO</a:t>
            </a:r>
          </a:p>
        </p:txBody>
      </p:sp>
    </p:spTree>
    <p:extLst>
      <p:ext uri="{BB962C8B-B14F-4D97-AF65-F5344CB8AC3E}">
        <p14:creationId xmlns:p14="http://schemas.microsoft.com/office/powerpoint/2010/main" val="40432390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l="26253" t="21381" r="11006" b="69244"/>
          <a:stretch>
            <a:fillRect/>
          </a:stretch>
        </p:blipFill>
        <p:spPr bwMode="auto">
          <a:xfrm>
            <a:off x="0" y="0"/>
            <a:ext cx="9142413" cy="109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67480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l="28699" t="21129" r="10568" b="22070"/>
          <a:stretch>
            <a:fillRect/>
          </a:stretch>
        </p:blipFill>
        <p:spPr bwMode="auto">
          <a:xfrm>
            <a:off x="-22225" y="-44450"/>
            <a:ext cx="9166225"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147326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l="26062" t="21394" r="10922" b="68924"/>
          <a:stretch>
            <a:fillRect/>
          </a:stretch>
        </p:blipFill>
        <p:spPr bwMode="auto">
          <a:xfrm>
            <a:off x="0" y="-3175"/>
            <a:ext cx="9128125" cy="109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16141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8"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9" name="Marcador de número de diapositiva 5"/>
          <p:cNvSpPr>
            <a:spLocks noGrp="1"/>
          </p:cNvSpPr>
          <p:nvPr>
            <p:ph type="sldNum" sz="quarter" idx="12"/>
          </p:nvPr>
        </p:nvSpPr>
        <p:spPr/>
        <p:txBody>
          <a:bodyPr/>
          <a:lstStyle>
            <a:lvl1pPr>
              <a:defRPr/>
            </a:lvl1pPr>
          </a:lstStyle>
          <a:p>
            <a:pPr>
              <a:defRPr/>
            </a:pPr>
            <a:fld id="{241E1214-81C8-4503-BCCC-6EDEF8276047}" type="slidenum">
              <a:rPr lang="es-ES" altLang="es-PE"/>
              <a:pPr>
                <a:defRPr/>
              </a:pPr>
              <a:t>‹Nº›</a:t>
            </a:fld>
            <a:endParaRPr lang="es-ES" altLang="es-PE"/>
          </a:p>
        </p:txBody>
      </p:sp>
    </p:spTree>
    <p:extLst>
      <p:ext uri="{BB962C8B-B14F-4D97-AF65-F5344CB8AC3E}">
        <p14:creationId xmlns:p14="http://schemas.microsoft.com/office/powerpoint/2010/main" val="398167542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4"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5" name="Marcador de número de diapositiva 5"/>
          <p:cNvSpPr>
            <a:spLocks noGrp="1"/>
          </p:cNvSpPr>
          <p:nvPr>
            <p:ph type="sldNum" sz="quarter" idx="12"/>
          </p:nvPr>
        </p:nvSpPr>
        <p:spPr/>
        <p:txBody>
          <a:bodyPr/>
          <a:lstStyle>
            <a:lvl1pPr>
              <a:defRPr/>
            </a:lvl1pPr>
          </a:lstStyle>
          <a:p>
            <a:pPr>
              <a:defRPr/>
            </a:pPr>
            <a:fld id="{296B24CE-A495-4A12-A285-6BD2695B76FB}" type="slidenum">
              <a:rPr lang="es-ES" altLang="es-PE"/>
              <a:pPr>
                <a:defRPr/>
              </a:pPr>
              <a:t>‹Nº›</a:t>
            </a:fld>
            <a:endParaRPr lang="es-ES" altLang="es-PE"/>
          </a:p>
        </p:txBody>
      </p:sp>
    </p:spTree>
    <p:extLst>
      <p:ext uri="{BB962C8B-B14F-4D97-AF65-F5344CB8AC3E}">
        <p14:creationId xmlns:p14="http://schemas.microsoft.com/office/powerpoint/2010/main" val="2643460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3"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4" name="Marcador de número de diapositiva 5"/>
          <p:cNvSpPr>
            <a:spLocks noGrp="1"/>
          </p:cNvSpPr>
          <p:nvPr>
            <p:ph type="sldNum" sz="quarter" idx="12"/>
          </p:nvPr>
        </p:nvSpPr>
        <p:spPr/>
        <p:txBody>
          <a:bodyPr/>
          <a:lstStyle>
            <a:lvl1pPr>
              <a:defRPr/>
            </a:lvl1pPr>
          </a:lstStyle>
          <a:p>
            <a:pPr>
              <a:defRPr/>
            </a:pPr>
            <a:fld id="{DDCA88B2-91D1-4563-B3C6-BE5DDDBF68C5}" type="slidenum">
              <a:rPr lang="es-ES" altLang="es-PE"/>
              <a:pPr>
                <a:defRPr/>
              </a:pPr>
              <a:t>‹Nº›</a:t>
            </a:fld>
            <a:endParaRPr lang="es-ES" altLang="es-PE"/>
          </a:p>
        </p:txBody>
      </p:sp>
    </p:spTree>
    <p:extLst>
      <p:ext uri="{BB962C8B-B14F-4D97-AF65-F5344CB8AC3E}">
        <p14:creationId xmlns:p14="http://schemas.microsoft.com/office/powerpoint/2010/main" val="9165402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6"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7" name="Marcador de número de diapositiva 5"/>
          <p:cNvSpPr>
            <a:spLocks noGrp="1"/>
          </p:cNvSpPr>
          <p:nvPr>
            <p:ph type="sldNum" sz="quarter" idx="12"/>
          </p:nvPr>
        </p:nvSpPr>
        <p:spPr/>
        <p:txBody>
          <a:bodyPr/>
          <a:lstStyle>
            <a:lvl1pPr>
              <a:defRPr/>
            </a:lvl1pPr>
          </a:lstStyle>
          <a:p>
            <a:pPr>
              <a:defRPr/>
            </a:pPr>
            <a:fld id="{92A72389-1EC5-4A3F-9976-1F6F269D6D18}" type="slidenum">
              <a:rPr lang="es-ES" altLang="es-PE"/>
              <a:pPr>
                <a:defRPr/>
              </a:pPr>
              <a:t>‹Nº›</a:t>
            </a:fld>
            <a:endParaRPr lang="es-ES" altLang="es-PE"/>
          </a:p>
        </p:txBody>
      </p:sp>
    </p:spTree>
    <p:extLst>
      <p:ext uri="{BB962C8B-B14F-4D97-AF65-F5344CB8AC3E}">
        <p14:creationId xmlns:p14="http://schemas.microsoft.com/office/powerpoint/2010/main" val="9200650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6"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7" name="Marcador de número de diapositiva 5"/>
          <p:cNvSpPr>
            <a:spLocks noGrp="1"/>
          </p:cNvSpPr>
          <p:nvPr>
            <p:ph type="sldNum" sz="quarter" idx="12"/>
          </p:nvPr>
        </p:nvSpPr>
        <p:spPr/>
        <p:txBody>
          <a:bodyPr/>
          <a:lstStyle>
            <a:lvl1pPr>
              <a:defRPr/>
            </a:lvl1pPr>
          </a:lstStyle>
          <a:p>
            <a:pPr>
              <a:defRPr/>
            </a:pPr>
            <a:fld id="{28E05A30-B145-4E47-97D1-441503D993A3}" type="slidenum">
              <a:rPr lang="es-ES" altLang="es-PE"/>
              <a:pPr>
                <a:defRPr/>
              </a:pPr>
              <a:t>‹Nº›</a:t>
            </a:fld>
            <a:endParaRPr lang="es-ES" altLang="es-PE"/>
          </a:p>
        </p:txBody>
      </p:sp>
    </p:spTree>
    <p:extLst>
      <p:ext uri="{BB962C8B-B14F-4D97-AF65-F5344CB8AC3E}">
        <p14:creationId xmlns:p14="http://schemas.microsoft.com/office/powerpoint/2010/main" val="6925932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5"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6" name="Marcador de número de diapositiva 5"/>
          <p:cNvSpPr>
            <a:spLocks noGrp="1"/>
          </p:cNvSpPr>
          <p:nvPr>
            <p:ph type="sldNum" sz="quarter" idx="12"/>
          </p:nvPr>
        </p:nvSpPr>
        <p:spPr/>
        <p:txBody>
          <a:bodyPr/>
          <a:lstStyle>
            <a:lvl1pPr>
              <a:defRPr/>
            </a:lvl1pPr>
          </a:lstStyle>
          <a:p>
            <a:pPr>
              <a:defRPr/>
            </a:pPr>
            <a:fld id="{662E418D-3F24-4401-9A2F-8CC6CF47572F}" type="slidenum">
              <a:rPr lang="es-ES" altLang="es-PE"/>
              <a:pPr>
                <a:defRPr/>
              </a:pPr>
              <a:t>‹Nº›</a:t>
            </a:fld>
            <a:endParaRPr lang="es-ES" altLang="es-PE"/>
          </a:p>
        </p:txBody>
      </p:sp>
    </p:spTree>
    <p:extLst>
      <p:ext uri="{BB962C8B-B14F-4D97-AF65-F5344CB8AC3E}">
        <p14:creationId xmlns:p14="http://schemas.microsoft.com/office/powerpoint/2010/main" val="28249397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lvl1pPr>
              <a:defRPr/>
            </a:lvl1pPr>
          </a:lstStyle>
          <a:p>
            <a:pPr>
              <a:defRPr/>
            </a:pPr>
            <a:r>
              <a:rPr lang="es-PE" altLang="es-PE"/>
              <a:t>SI433 - Diseño de Experimentos de ISW</a:t>
            </a:r>
            <a:endParaRPr lang="es-ES" altLang="es-PE"/>
          </a:p>
        </p:txBody>
      </p:sp>
      <p:sp>
        <p:nvSpPr>
          <p:cNvPr id="5" name="Marcador de pie de página 4"/>
          <p:cNvSpPr>
            <a:spLocks noGrp="1"/>
          </p:cNvSpPr>
          <p:nvPr>
            <p:ph type="ftr" sz="quarter" idx="11"/>
          </p:nvPr>
        </p:nvSpPr>
        <p:spPr/>
        <p:txBody>
          <a:bodyPr/>
          <a:lstStyle>
            <a:lvl1pPr>
              <a:defRPr/>
            </a:lvl1pPr>
          </a:lstStyle>
          <a:p>
            <a:pPr>
              <a:defRPr/>
            </a:pPr>
            <a:r>
              <a:rPr lang="es-ES"/>
              <a:t>Ing. Henry Joe Wong Urquiza</a:t>
            </a:r>
          </a:p>
        </p:txBody>
      </p:sp>
      <p:sp>
        <p:nvSpPr>
          <p:cNvPr id="6" name="Marcador de número de diapositiva 5"/>
          <p:cNvSpPr>
            <a:spLocks noGrp="1"/>
          </p:cNvSpPr>
          <p:nvPr>
            <p:ph type="sldNum" sz="quarter" idx="12"/>
          </p:nvPr>
        </p:nvSpPr>
        <p:spPr/>
        <p:txBody>
          <a:bodyPr/>
          <a:lstStyle>
            <a:lvl1pPr>
              <a:defRPr/>
            </a:lvl1pPr>
          </a:lstStyle>
          <a:p>
            <a:pPr>
              <a:defRPr/>
            </a:pPr>
            <a:fld id="{277BA705-1681-4FEB-A223-F67E379F570B}" type="slidenum">
              <a:rPr lang="es-ES" altLang="es-PE"/>
              <a:pPr>
                <a:defRPr/>
              </a:pPr>
              <a:t>‹Nº›</a:t>
            </a:fld>
            <a:endParaRPr lang="es-ES" altLang="es-PE"/>
          </a:p>
        </p:txBody>
      </p:sp>
    </p:spTree>
    <p:extLst>
      <p:ext uri="{BB962C8B-B14F-4D97-AF65-F5344CB8AC3E}">
        <p14:creationId xmlns:p14="http://schemas.microsoft.com/office/powerpoint/2010/main" val="42565618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_tradnl" altLang="es-PE"/>
              <a:t>Clic para editar título</a:t>
            </a:r>
            <a:endParaRPr lang="es-ES" altLang="es-PE"/>
          </a:p>
        </p:txBody>
      </p:sp>
      <p:sp>
        <p:nvSpPr>
          <p:cNvPr id="1027" name="Marcador de texto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_tradnl" altLang="es-PE"/>
              <a:t>Haga clic para modificar el estilo de texto del patrón</a:t>
            </a:r>
          </a:p>
          <a:p>
            <a:pPr lvl="1"/>
            <a:r>
              <a:rPr lang="es-ES_tradnl" altLang="es-PE"/>
              <a:t>Segundo nivel</a:t>
            </a:r>
          </a:p>
          <a:p>
            <a:pPr lvl="2"/>
            <a:r>
              <a:rPr lang="es-ES_tradnl" altLang="es-PE"/>
              <a:t>Tercer nivel</a:t>
            </a:r>
          </a:p>
          <a:p>
            <a:pPr lvl="3"/>
            <a:r>
              <a:rPr lang="es-ES_tradnl" altLang="es-PE"/>
              <a:t>Cuarto nivel</a:t>
            </a:r>
          </a:p>
          <a:p>
            <a:pPr lvl="4"/>
            <a:r>
              <a:rPr lang="es-ES_tradnl" altLang="es-PE"/>
              <a:t>Quinto nivel</a:t>
            </a:r>
            <a:endParaRPr lang="es-ES" altLang="es-PE"/>
          </a:p>
        </p:txBody>
      </p:sp>
      <p:sp>
        <p:nvSpPr>
          <p:cNvPr id="4" name="Marcador de fecha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a:defRPr/>
            </a:pPr>
            <a:r>
              <a:rPr lang="es-PE" altLang="es-PE"/>
              <a:t>SI433 - Diseño de Experimentos de ISW</a:t>
            </a:r>
            <a:endParaRPr lang="es-ES" altLang="es-PE"/>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r>
              <a:rPr lang="es-ES"/>
              <a:t>Ing. Henry Joe Wong Urquiza</a:t>
            </a:r>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F2A762BC-07B9-444C-9EF7-A1E9E682AB3B}" type="slidenum">
              <a:rPr lang="es-ES" altLang="es-PE"/>
              <a:pPr>
                <a:defRPr/>
              </a:pPr>
              <a:t>‹Nº›</a:t>
            </a:fld>
            <a:endParaRPr lang="es-ES" altLang="es-PE"/>
          </a:p>
        </p:txBody>
      </p:sp>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7" r:id="rId5"/>
    <p:sldLayoutId id="2147483738" r:id="rId6"/>
    <p:sldLayoutId id="2147483739" r:id="rId7"/>
    <p:sldLayoutId id="2147483740" r:id="rId8"/>
    <p:sldLayoutId id="2147483741" r:id="rId9"/>
    <p:sldLayoutId id="2147483742" r:id="rId10"/>
    <p:sldLayoutId id="2147483743"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7170" name="Título 1"/>
          <p:cNvSpPr>
            <a:spLocks noGrp="1"/>
          </p:cNvSpPr>
          <p:nvPr>
            <p:ph type="ctrTitle" idx="4294967295"/>
          </p:nvPr>
        </p:nvSpPr>
        <p:spPr>
          <a:xfrm>
            <a:off x="457200" y="2582863"/>
            <a:ext cx="7772400" cy="1470025"/>
          </a:xfrm>
          <a:ln>
            <a:solidFill>
              <a:srgbClr val="4F81BD"/>
            </a:solidFill>
            <a:miter lim="800000"/>
            <a:headEnd/>
            <a:tailEnd/>
          </a:ln>
        </p:spPr>
        <p:txBody>
          <a:bodyPr/>
          <a:lstStyle/>
          <a:p>
            <a:pPr algn="l" eaLnBrk="1" hangingPunct="1"/>
            <a:r>
              <a:rPr lang="es-MX" altLang="es-PE" sz="3600" b="1" spc="15" dirty="0">
                <a:solidFill>
                  <a:schemeClr val="bg1"/>
                </a:solidFill>
                <a:latin typeface="Solano Gothic MVB Std Cap" pitchFamily="50" charset="0"/>
              </a:rPr>
              <a:t>Alineamiento del </a:t>
            </a:r>
            <a:r>
              <a:rPr lang="es-MX" altLang="es-PE" sz="3600" b="1" spc="15" dirty="0" err="1">
                <a:solidFill>
                  <a:schemeClr val="bg1"/>
                </a:solidFill>
                <a:latin typeface="Solano Gothic MVB Std Cap" pitchFamily="50" charset="0"/>
              </a:rPr>
              <a:t>student</a:t>
            </a:r>
            <a:r>
              <a:rPr lang="es-MX" altLang="es-PE" sz="3600" b="1" spc="15" dirty="0">
                <a:solidFill>
                  <a:schemeClr val="bg1"/>
                </a:solidFill>
                <a:latin typeface="Solano Gothic MVB Std Cap" pitchFamily="50" charset="0"/>
              </a:rPr>
              <a:t> </a:t>
            </a:r>
            <a:r>
              <a:rPr lang="es-MX" altLang="es-PE" sz="3600" b="1" spc="15" dirty="0" err="1">
                <a:solidFill>
                  <a:schemeClr val="bg1"/>
                </a:solidFill>
                <a:latin typeface="Solano Gothic MVB Std Cap" pitchFamily="50" charset="0"/>
              </a:rPr>
              <a:t>outcome</a:t>
            </a:r>
            <a:r>
              <a:rPr lang="es-MX" altLang="es-PE" sz="3600" b="1" spc="15" dirty="0">
                <a:solidFill>
                  <a:schemeClr val="bg1"/>
                </a:solidFill>
                <a:latin typeface="Solano Gothic MVB Std Cap" pitchFamily="50" charset="0"/>
              </a:rPr>
              <a:t> 5</a:t>
            </a:r>
            <a:endParaRPr lang="es-ES" altLang="es-PE" sz="3600" b="1" dirty="0">
              <a:solidFill>
                <a:schemeClr val="bg1"/>
              </a:solidFill>
              <a:latin typeface="Solano Gothic MVB Std Cap" pitchFamily="50" charset="0"/>
            </a:endParaRPr>
          </a:p>
        </p:txBody>
      </p:sp>
      <p:sp>
        <p:nvSpPr>
          <p:cNvPr id="4" name="Título 1"/>
          <p:cNvSpPr>
            <a:spLocks noGrp="1"/>
          </p:cNvSpPr>
          <p:nvPr>
            <p:ph type="ctrTitle" idx="4294967295"/>
          </p:nvPr>
        </p:nvSpPr>
        <p:spPr>
          <a:xfrm>
            <a:off x="457200" y="4205288"/>
            <a:ext cx="7772400" cy="1470025"/>
          </a:xfrm>
          <a:ln>
            <a:solidFill>
              <a:srgbClr val="4F81BD"/>
            </a:solidFill>
            <a:miter lim="800000"/>
            <a:headEnd/>
            <a:tailEnd/>
          </a:ln>
        </p:spPr>
        <p:txBody>
          <a:bodyPr/>
          <a:lstStyle/>
          <a:p>
            <a:pPr algn="r" eaLnBrk="1" hangingPunct="1"/>
            <a:br>
              <a:rPr lang="es-ES" altLang="es-PE" sz="2000" b="1" dirty="0">
                <a:solidFill>
                  <a:schemeClr val="bg1"/>
                </a:solidFill>
                <a:latin typeface="Solano Gothic MVB Std Cap" pitchFamily="50" charset="0"/>
              </a:rPr>
            </a:br>
            <a:r>
              <a:rPr lang="es-ES" altLang="es-PE" sz="2000" b="1" dirty="0">
                <a:solidFill>
                  <a:schemeClr val="bg1"/>
                </a:solidFill>
                <a:latin typeface="Solano Gothic MVB Std Cap" pitchFamily="50" charset="0"/>
              </a:rPr>
              <a:t>Nombre del </a:t>
            </a:r>
            <a:r>
              <a:rPr lang="es-ES" altLang="es-PE" sz="2000" b="1">
                <a:solidFill>
                  <a:schemeClr val="bg1"/>
                </a:solidFill>
                <a:latin typeface="Solano Gothic MVB Std Cap" pitchFamily="50" charset="0"/>
              </a:rPr>
              <a:t>curso:</a:t>
            </a:r>
            <a:br>
              <a:rPr lang="es-ES" altLang="es-PE" sz="2000" b="1" dirty="0">
                <a:solidFill>
                  <a:schemeClr val="bg1"/>
                </a:solidFill>
                <a:latin typeface="Solano Gothic MVB Std Cap" pitchFamily="50" charset="0"/>
              </a:rPr>
            </a:br>
            <a:r>
              <a:rPr lang="es-ES" altLang="es-PE" sz="2000" b="1" dirty="0">
                <a:solidFill>
                  <a:schemeClr val="bg1"/>
                </a:solidFill>
                <a:latin typeface="Solano Gothic MVB Std Cap" pitchFamily="50" charset="0"/>
              </a:rPr>
              <a:t>sección: todas</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75DDB686-3674-41A4-B25B-7F9A88EE5E87}"/>
              </a:ext>
            </a:extLst>
          </p:cNvPr>
          <p:cNvSpPr txBox="1">
            <a:spLocks/>
          </p:cNvSpPr>
          <p:nvPr/>
        </p:nvSpPr>
        <p:spPr>
          <a:xfrm>
            <a:off x="152735" y="184535"/>
            <a:ext cx="8048730" cy="71141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25168" algn="l">
              <a:spcBef>
                <a:spcPts val="268"/>
              </a:spcBef>
            </a:pPr>
            <a:r>
              <a:rPr lang="es-MX" spc="30" dirty="0" err="1">
                <a:solidFill>
                  <a:schemeClr val="bg1"/>
                </a:solidFill>
              </a:rPr>
              <a:t>Outcome</a:t>
            </a:r>
            <a:r>
              <a:rPr lang="es-MX" spc="30" dirty="0">
                <a:solidFill>
                  <a:schemeClr val="bg1"/>
                </a:solidFill>
              </a:rPr>
              <a:t> 5</a:t>
            </a:r>
            <a:endParaRPr lang="es-MX" spc="20" dirty="0">
              <a:solidFill>
                <a:schemeClr val="bg1"/>
              </a:solidFill>
            </a:endParaRPr>
          </a:p>
        </p:txBody>
      </p:sp>
      <p:sp>
        <p:nvSpPr>
          <p:cNvPr id="13" name="object 14">
            <a:extLst>
              <a:ext uri="{FF2B5EF4-FFF2-40B4-BE49-F238E27FC236}">
                <a16:creationId xmlns:a16="http://schemas.microsoft.com/office/drawing/2014/main" id="{82382543-E1CA-4616-A9DF-4911F7FD194A}"/>
              </a:ext>
            </a:extLst>
          </p:cNvPr>
          <p:cNvSpPr txBox="1"/>
          <p:nvPr/>
        </p:nvSpPr>
        <p:spPr>
          <a:xfrm>
            <a:off x="152735" y="1954425"/>
            <a:ext cx="8808385" cy="2949149"/>
          </a:xfrm>
          <a:prstGeom prst="rect">
            <a:avLst/>
          </a:prstGeom>
        </p:spPr>
        <p:txBody>
          <a:bodyPr vert="horz" wrap="square" lIns="0" tIns="177427" rIns="0" bIns="0" rtlCol="0">
            <a:spAutoFit/>
          </a:bodyPr>
          <a:lstStyle/>
          <a:p>
            <a:pPr marL="25168" algn="ctr">
              <a:spcBef>
                <a:spcPts val="1397"/>
              </a:spcBef>
            </a:pPr>
            <a:r>
              <a:rPr lang="es-PE" sz="3600" b="1" spc="-20" dirty="0">
                <a:solidFill>
                  <a:srgbClr val="0000FF"/>
                </a:solidFill>
                <a:latin typeface="Arial"/>
                <a:cs typeface="Arial"/>
              </a:rPr>
              <a:t>Trabaja efectivamente en un equipo cuyos miembros juntos proporcionan liderazgo; crea un entorno colaborativo e inclusivo y establece metas, planifica tareas y cumple objetivos</a:t>
            </a:r>
          </a:p>
        </p:txBody>
      </p:sp>
    </p:spTree>
    <p:extLst>
      <p:ext uri="{BB962C8B-B14F-4D97-AF65-F5344CB8AC3E}">
        <p14:creationId xmlns:p14="http://schemas.microsoft.com/office/powerpoint/2010/main" val="14508413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75DDB686-3674-41A4-B25B-7F9A88EE5E87}"/>
              </a:ext>
            </a:extLst>
          </p:cNvPr>
          <p:cNvSpPr txBox="1">
            <a:spLocks/>
          </p:cNvSpPr>
          <p:nvPr/>
        </p:nvSpPr>
        <p:spPr>
          <a:xfrm>
            <a:off x="152735" y="184535"/>
            <a:ext cx="8048730" cy="71141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25168" algn="l">
              <a:spcBef>
                <a:spcPts val="268"/>
              </a:spcBef>
            </a:pPr>
            <a:r>
              <a:rPr lang="es-MX" spc="30" dirty="0">
                <a:solidFill>
                  <a:schemeClr val="bg1"/>
                </a:solidFill>
              </a:rPr>
              <a:t>Criterios</a:t>
            </a:r>
            <a:endParaRPr lang="es-MX" spc="20" dirty="0">
              <a:solidFill>
                <a:schemeClr val="bg1"/>
              </a:solidFill>
            </a:endParaRPr>
          </a:p>
        </p:txBody>
      </p:sp>
      <p:sp>
        <p:nvSpPr>
          <p:cNvPr id="5" name="CuadroTexto 4">
            <a:extLst>
              <a:ext uri="{FF2B5EF4-FFF2-40B4-BE49-F238E27FC236}">
                <a16:creationId xmlns:a16="http://schemas.microsoft.com/office/drawing/2014/main" id="{43542B39-964F-45BD-BB80-796D071379A6}"/>
              </a:ext>
            </a:extLst>
          </p:cNvPr>
          <p:cNvSpPr txBox="1"/>
          <p:nvPr/>
        </p:nvSpPr>
        <p:spPr>
          <a:xfrm>
            <a:off x="295274" y="1964346"/>
            <a:ext cx="8553451" cy="369332"/>
          </a:xfrm>
          <a:prstGeom prst="rect">
            <a:avLst/>
          </a:prstGeom>
          <a:noFill/>
        </p:spPr>
        <p:txBody>
          <a:bodyPr wrap="square">
            <a:spAutoFit/>
          </a:bodyPr>
          <a:lstStyle/>
          <a:p>
            <a:pPr marL="25168" algn="ctr">
              <a:spcBef>
                <a:spcPts val="1397"/>
              </a:spcBef>
            </a:pPr>
            <a:r>
              <a:rPr lang="es-PE" b="1" spc="-20" dirty="0">
                <a:solidFill>
                  <a:srgbClr val="0000FF"/>
                </a:solidFill>
                <a:latin typeface="Arial"/>
                <a:cs typeface="Arial"/>
              </a:rPr>
              <a:t>5.c.1 Trabaja en equipo para proporcionar liderazgo en forma conjunta</a:t>
            </a:r>
          </a:p>
        </p:txBody>
      </p:sp>
      <p:pic>
        <p:nvPicPr>
          <p:cNvPr id="4" name="Imagen 3">
            <a:extLst>
              <a:ext uri="{FF2B5EF4-FFF2-40B4-BE49-F238E27FC236}">
                <a16:creationId xmlns:a16="http://schemas.microsoft.com/office/drawing/2014/main" id="{542D2B0C-47FC-7644-98B7-ECF3E218FC9D}"/>
              </a:ext>
            </a:extLst>
          </p:cNvPr>
          <p:cNvPicPr>
            <a:picLocks noChangeAspect="1"/>
          </p:cNvPicPr>
          <p:nvPr/>
        </p:nvPicPr>
        <p:blipFill>
          <a:blip r:embed="rId2"/>
          <a:stretch>
            <a:fillRect/>
          </a:stretch>
        </p:blipFill>
        <p:spPr>
          <a:xfrm>
            <a:off x="152735" y="3165157"/>
            <a:ext cx="8883678" cy="2166498"/>
          </a:xfrm>
          <a:prstGeom prst="rect">
            <a:avLst/>
          </a:prstGeom>
        </p:spPr>
      </p:pic>
    </p:spTree>
    <p:extLst>
      <p:ext uri="{BB962C8B-B14F-4D97-AF65-F5344CB8AC3E}">
        <p14:creationId xmlns:p14="http://schemas.microsoft.com/office/powerpoint/2010/main" val="36759536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75DDB686-3674-41A4-B25B-7F9A88EE5E87}"/>
              </a:ext>
            </a:extLst>
          </p:cNvPr>
          <p:cNvSpPr txBox="1">
            <a:spLocks/>
          </p:cNvSpPr>
          <p:nvPr/>
        </p:nvSpPr>
        <p:spPr>
          <a:xfrm>
            <a:off x="152735" y="184535"/>
            <a:ext cx="8048730" cy="71141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25168" algn="l">
              <a:spcBef>
                <a:spcPts val="268"/>
              </a:spcBef>
            </a:pPr>
            <a:r>
              <a:rPr lang="es-MX" spc="30" dirty="0">
                <a:solidFill>
                  <a:schemeClr val="bg1"/>
                </a:solidFill>
              </a:rPr>
              <a:t>Criterios</a:t>
            </a:r>
            <a:endParaRPr lang="es-MX" spc="20" dirty="0">
              <a:solidFill>
                <a:schemeClr val="bg1"/>
              </a:solidFill>
            </a:endParaRPr>
          </a:p>
        </p:txBody>
      </p:sp>
      <p:sp>
        <p:nvSpPr>
          <p:cNvPr id="5" name="CuadroTexto 4">
            <a:extLst>
              <a:ext uri="{FF2B5EF4-FFF2-40B4-BE49-F238E27FC236}">
                <a16:creationId xmlns:a16="http://schemas.microsoft.com/office/drawing/2014/main" id="{43542B39-964F-45BD-BB80-796D071379A6}"/>
              </a:ext>
            </a:extLst>
          </p:cNvPr>
          <p:cNvSpPr txBox="1"/>
          <p:nvPr/>
        </p:nvSpPr>
        <p:spPr>
          <a:xfrm>
            <a:off x="335717" y="1724187"/>
            <a:ext cx="8358578" cy="646331"/>
          </a:xfrm>
          <a:prstGeom prst="rect">
            <a:avLst/>
          </a:prstGeom>
          <a:noFill/>
        </p:spPr>
        <p:txBody>
          <a:bodyPr wrap="square">
            <a:spAutoFit/>
          </a:bodyPr>
          <a:lstStyle/>
          <a:p>
            <a:pPr marL="25168" algn="ctr">
              <a:spcBef>
                <a:spcPts val="1397"/>
              </a:spcBef>
            </a:pPr>
            <a:r>
              <a:rPr lang="es-PE" b="1" spc="-20" dirty="0">
                <a:solidFill>
                  <a:srgbClr val="0000FF"/>
                </a:solidFill>
                <a:latin typeface="Arial"/>
                <a:cs typeface="Arial"/>
              </a:rPr>
              <a:t>5.c.2 Crea un entorno colaborativo e inclusivo, establece metas, planifica tareas y cumple objetivos</a:t>
            </a:r>
          </a:p>
        </p:txBody>
      </p:sp>
      <p:pic>
        <p:nvPicPr>
          <p:cNvPr id="4" name="Imagen 3">
            <a:extLst>
              <a:ext uri="{FF2B5EF4-FFF2-40B4-BE49-F238E27FC236}">
                <a16:creationId xmlns:a16="http://schemas.microsoft.com/office/drawing/2014/main" id="{CB4B12EA-B10F-AEE0-BC9E-E706E05EBEE8}"/>
              </a:ext>
            </a:extLst>
          </p:cNvPr>
          <p:cNvPicPr>
            <a:picLocks noChangeAspect="1"/>
          </p:cNvPicPr>
          <p:nvPr/>
        </p:nvPicPr>
        <p:blipFill>
          <a:blip r:embed="rId2"/>
          <a:stretch>
            <a:fillRect/>
          </a:stretch>
        </p:blipFill>
        <p:spPr>
          <a:xfrm>
            <a:off x="95460" y="3057453"/>
            <a:ext cx="9011714" cy="1650032"/>
          </a:xfrm>
          <a:prstGeom prst="rect">
            <a:avLst/>
          </a:prstGeom>
        </p:spPr>
      </p:pic>
    </p:spTree>
    <p:extLst>
      <p:ext uri="{BB962C8B-B14F-4D97-AF65-F5344CB8AC3E}">
        <p14:creationId xmlns:p14="http://schemas.microsoft.com/office/powerpoint/2010/main" val="13888243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ítulo 1"/>
          <p:cNvSpPr txBox="1">
            <a:spLocks/>
          </p:cNvSpPr>
          <p:nvPr/>
        </p:nvSpPr>
        <p:spPr bwMode="auto">
          <a:xfrm>
            <a:off x="685800" y="1097280"/>
            <a:ext cx="7772400" cy="1212361"/>
          </a:xfrm>
          <a:prstGeom prst="rect">
            <a:avLst/>
          </a:prstGeom>
          <a:noFill/>
          <a:ln w="9525">
            <a:solidFill>
              <a:srgbClr val="4F81BD"/>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lgn="ctr" eaLnBrk="1" hangingPunct="1">
              <a:spcBef>
                <a:spcPct val="0"/>
              </a:spcBef>
              <a:buFontTx/>
              <a:buNone/>
            </a:pPr>
            <a:r>
              <a:rPr lang="es-MX" altLang="es-PE" sz="5400" spc="10" dirty="0">
                <a:solidFill>
                  <a:schemeClr val="bg1">
                    <a:lumMod val="50000"/>
                  </a:schemeClr>
                </a:solidFill>
                <a:latin typeface="Solano Gothic MVB Std Cap" pitchFamily="50" charset="0"/>
              </a:rPr>
              <a:t>Equipos diversos</a:t>
            </a:r>
            <a:endParaRPr lang="es-ES" altLang="es-PE" sz="5400" dirty="0">
              <a:solidFill>
                <a:schemeClr val="bg1">
                  <a:lumMod val="50000"/>
                </a:schemeClr>
              </a:solidFill>
              <a:latin typeface="Solano Gothic MVB Std Cap" pitchFamily="50" charset="0"/>
            </a:endParaRPr>
          </a:p>
        </p:txBody>
      </p:sp>
      <p:pic>
        <p:nvPicPr>
          <p:cNvPr id="2" name="Picture 2" descr="POR QUÉ LOS EQUIPOS DIVERSOS E INCLUSIVOS SON LOS MOTORES DE LA INNOVACIÓN.  - GPTW CA &amp; CARIBE">
            <a:extLst>
              <a:ext uri="{FF2B5EF4-FFF2-40B4-BE49-F238E27FC236}">
                <a16:creationId xmlns:a16="http://schemas.microsoft.com/office/drawing/2014/main" id="{5749C403-B9AC-432D-95E7-61CAFFB0E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040" y="2524182"/>
            <a:ext cx="8249920" cy="37546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75DDB686-3674-41A4-B25B-7F9A88EE5E87}"/>
              </a:ext>
            </a:extLst>
          </p:cNvPr>
          <p:cNvSpPr txBox="1">
            <a:spLocks/>
          </p:cNvSpPr>
          <p:nvPr/>
        </p:nvSpPr>
        <p:spPr>
          <a:xfrm>
            <a:off x="152735" y="184535"/>
            <a:ext cx="8048730" cy="71141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25168">
              <a:spcBef>
                <a:spcPts val="268"/>
              </a:spcBef>
            </a:pPr>
            <a:r>
              <a:rPr lang="es-MX" spc="30" dirty="0">
                <a:solidFill>
                  <a:schemeClr val="bg1"/>
                </a:solidFill>
              </a:rPr>
              <a:t>Introducción</a:t>
            </a:r>
            <a:endParaRPr lang="es-MX" spc="20" dirty="0">
              <a:solidFill>
                <a:schemeClr val="bg1"/>
              </a:solidFill>
            </a:endParaRPr>
          </a:p>
        </p:txBody>
      </p:sp>
      <p:sp>
        <p:nvSpPr>
          <p:cNvPr id="13" name="object 14">
            <a:extLst>
              <a:ext uri="{FF2B5EF4-FFF2-40B4-BE49-F238E27FC236}">
                <a16:creationId xmlns:a16="http://schemas.microsoft.com/office/drawing/2014/main" id="{82382543-E1CA-4616-A9DF-4911F7FD194A}"/>
              </a:ext>
            </a:extLst>
          </p:cNvPr>
          <p:cNvSpPr txBox="1"/>
          <p:nvPr/>
        </p:nvSpPr>
        <p:spPr>
          <a:xfrm>
            <a:off x="908147" y="1500681"/>
            <a:ext cx="7673145" cy="3062513"/>
          </a:xfrm>
          <a:prstGeom prst="rect">
            <a:avLst/>
          </a:prstGeom>
        </p:spPr>
        <p:txBody>
          <a:bodyPr vert="horz" wrap="square" lIns="0" tIns="177427" rIns="0" bIns="0" rtlCol="0">
            <a:spAutoFit/>
          </a:bodyPr>
          <a:lstStyle/>
          <a:p>
            <a:pPr marL="482368" indent="-457200">
              <a:spcBef>
                <a:spcPts val="1397"/>
              </a:spcBef>
              <a:buFont typeface="+mj-lt"/>
              <a:buAutoNum type="arabicPeriod"/>
            </a:pPr>
            <a:r>
              <a:rPr sz="3600" b="1" spc="-20" dirty="0">
                <a:solidFill>
                  <a:srgbClr val="0000FF"/>
                </a:solidFill>
                <a:latin typeface="Arial"/>
                <a:cs typeface="Arial"/>
              </a:rPr>
              <a:t>¿Qué es </a:t>
            </a:r>
            <a:r>
              <a:rPr lang="es-PE" sz="3600" b="1" spc="-20" dirty="0">
                <a:solidFill>
                  <a:srgbClr val="0000FF"/>
                </a:solidFill>
                <a:latin typeface="Arial"/>
                <a:cs typeface="Arial"/>
              </a:rPr>
              <a:t>el trabajo en equipo</a:t>
            </a:r>
            <a:r>
              <a:rPr sz="3600" b="1" spc="-10" dirty="0">
                <a:solidFill>
                  <a:srgbClr val="0000FF"/>
                </a:solidFill>
                <a:latin typeface="Arial"/>
                <a:cs typeface="Arial"/>
              </a:rPr>
              <a:t>?</a:t>
            </a:r>
            <a:endParaRPr sz="3600" dirty="0">
              <a:latin typeface="Arial"/>
              <a:cs typeface="Arial"/>
            </a:endParaRPr>
          </a:p>
          <a:p>
            <a:pPr marL="482368" marR="10067" indent="-457200">
              <a:lnSpc>
                <a:spcPct val="145800"/>
              </a:lnSpc>
              <a:buFont typeface="+mj-lt"/>
              <a:buAutoNum type="arabicPeriod"/>
            </a:pPr>
            <a:r>
              <a:rPr lang="es-PE" sz="3600" dirty="0"/>
              <a:t>Técnicas de trabajo en equipo</a:t>
            </a:r>
          </a:p>
          <a:p>
            <a:pPr marL="482368" marR="10067" indent="-457200">
              <a:lnSpc>
                <a:spcPct val="145800"/>
              </a:lnSpc>
              <a:buFont typeface="+mj-lt"/>
              <a:buAutoNum type="arabicPeriod"/>
            </a:pPr>
            <a:endParaRPr lang="es-PE" sz="3600" spc="-10" dirty="0">
              <a:latin typeface="Arial"/>
              <a:cs typeface="Arial"/>
            </a:endParaRPr>
          </a:p>
          <a:p>
            <a:pPr marL="482368" marR="10067" indent="-457200">
              <a:lnSpc>
                <a:spcPct val="145800"/>
              </a:lnSpc>
              <a:buFont typeface="+mj-lt"/>
              <a:buAutoNum type="arabicPeriod"/>
            </a:pPr>
            <a:endParaRPr lang="es-PE" sz="3600" spc="-10" dirty="0">
              <a:latin typeface="Arial"/>
              <a:cs typeface="Arial"/>
            </a:endParaRPr>
          </a:p>
        </p:txBody>
      </p:sp>
    </p:spTree>
    <p:extLst>
      <p:ext uri="{BB962C8B-B14F-4D97-AF65-F5344CB8AC3E}">
        <p14:creationId xmlns:p14="http://schemas.microsoft.com/office/powerpoint/2010/main" val="20130838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343C6038-F897-4347-89FB-FA427BB81541}"/>
              </a:ext>
            </a:extLst>
          </p:cNvPr>
          <p:cNvSpPr txBox="1">
            <a:spLocks/>
          </p:cNvSpPr>
          <p:nvPr/>
        </p:nvSpPr>
        <p:spPr>
          <a:xfrm>
            <a:off x="209549" y="234679"/>
            <a:ext cx="7486651" cy="58830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z="3600" spc="30" dirty="0">
                <a:solidFill>
                  <a:schemeClr val="bg1"/>
                </a:solidFill>
              </a:rPr>
              <a:t>¿Qué es un equipo?</a:t>
            </a:r>
          </a:p>
        </p:txBody>
      </p:sp>
      <p:sp>
        <p:nvSpPr>
          <p:cNvPr id="3" name="object 17">
            <a:extLst>
              <a:ext uri="{FF2B5EF4-FFF2-40B4-BE49-F238E27FC236}">
                <a16:creationId xmlns:a16="http://schemas.microsoft.com/office/drawing/2014/main" id="{9466314F-E5A8-4E57-81B6-8CC46DD473B0}"/>
              </a:ext>
            </a:extLst>
          </p:cNvPr>
          <p:cNvSpPr txBox="1"/>
          <p:nvPr/>
        </p:nvSpPr>
        <p:spPr>
          <a:xfrm>
            <a:off x="457200" y="1532913"/>
            <a:ext cx="8026400" cy="1723313"/>
          </a:xfrm>
          <a:prstGeom prst="rect">
            <a:avLst/>
          </a:prstGeom>
        </p:spPr>
        <p:txBody>
          <a:bodyPr vert="horz" wrap="square" lIns="0" tIns="25167" rIns="0" bIns="0" rtlCol="0">
            <a:spAutoFit/>
          </a:bodyPr>
          <a:lstStyle/>
          <a:p>
            <a:pPr marL="916721" marR="26426" indent="-342900" algn="just">
              <a:spcBef>
                <a:spcPts val="198"/>
              </a:spcBef>
              <a:buFont typeface="Arial" panose="020B0604020202020204" pitchFamily="34" charset="0"/>
              <a:buChar char="•"/>
            </a:pPr>
            <a:r>
              <a:rPr lang="en-US" sz="2400" dirty="0"/>
              <a:t>A team consists of more than one person working toward a common goal and should include individuals of diverse backgrounds, skills, or perspectives.</a:t>
            </a:r>
            <a:endParaRPr lang="en-US" sz="2400" spc="-20" dirty="0">
              <a:latin typeface="Arial"/>
              <a:cs typeface="Arial"/>
            </a:endParaRPr>
          </a:p>
          <a:p>
            <a:pPr marL="916721" marR="26426" indent="-342900" algn="just">
              <a:spcBef>
                <a:spcPts val="198"/>
              </a:spcBef>
              <a:buFont typeface="Arial" panose="020B0604020202020204" pitchFamily="34" charset="0"/>
              <a:buChar char="•"/>
            </a:pPr>
            <a:endParaRPr lang="en-US" sz="2400" spc="-20" dirty="0">
              <a:latin typeface="Arial"/>
              <a:cs typeface="Arial"/>
            </a:endParaRPr>
          </a:p>
          <a:p>
            <a:pPr marL="573821" marR="26426" algn="just">
              <a:spcBef>
                <a:spcPts val="198"/>
              </a:spcBef>
            </a:pPr>
            <a:r>
              <a:rPr lang="en-US" sz="1100" spc="-20" dirty="0">
                <a:latin typeface="Arial"/>
                <a:cs typeface="Arial"/>
              </a:rPr>
              <a:t>ABET - https://www.abet.org/accreditation/accreditation-criteria/criteria-for-accrediting-engineering-programs-2020-2021/</a:t>
            </a:r>
            <a:endParaRPr lang="en-US" sz="1100" dirty="0"/>
          </a:p>
        </p:txBody>
      </p:sp>
    </p:spTree>
    <p:extLst>
      <p:ext uri="{BB962C8B-B14F-4D97-AF65-F5344CB8AC3E}">
        <p14:creationId xmlns:p14="http://schemas.microsoft.com/office/powerpoint/2010/main" val="18629258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343C6038-F897-4347-89FB-FA427BB81541}"/>
              </a:ext>
            </a:extLst>
          </p:cNvPr>
          <p:cNvSpPr txBox="1">
            <a:spLocks/>
          </p:cNvSpPr>
          <p:nvPr/>
        </p:nvSpPr>
        <p:spPr>
          <a:xfrm>
            <a:off x="209549" y="234679"/>
            <a:ext cx="7486651" cy="58830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z="3600" spc="30" dirty="0">
                <a:solidFill>
                  <a:schemeClr val="bg1"/>
                </a:solidFill>
              </a:rPr>
              <a:t>Trabajo en equipo</a:t>
            </a:r>
          </a:p>
        </p:txBody>
      </p:sp>
      <p:sp>
        <p:nvSpPr>
          <p:cNvPr id="3" name="object 17">
            <a:extLst>
              <a:ext uri="{FF2B5EF4-FFF2-40B4-BE49-F238E27FC236}">
                <a16:creationId xmlns:a16="http://schemas.microsoft.com/office/drawing/2014/main" id="{9466314F-E5A8-4E57-81B6-8CC46DD473B0}"/>
              </a:ext>
            </a:extLst>
          </p:cNvPr>
          <p:cNvSpPr txBox="1"/>
          <p:nvPr/>
        </p:nvSpPr>
        <p:spPr>
          <a:xfrm>
            <a:off x="457200" y="1532913"/>
            <a:ext cx="8026400" cy="1133408"/>
          </a:xfrm>
          <a:prstGeom prst="rect">
            <a:avLst/>
          </a:prstGeom>
        </p:spPr>
        <p:txBody>
          <a:bodyPr vert="horz" wrap="square" lIns="0" tIns="25167" rIns="0" bIns="0" rtlCol="0">
            <a:spAutoFit/>
          </a:bodyPr>
          <a:lstStyle/>
          <a:p>
            <a:pPr marL="916721" marR="26426" indent="-342900" algn="just">
              <a:spcBef>
                <a:spcPts val="198"/>
              </a:spcBef>
              <a:buFont typeface="Arial" panose="020B0604020202020204" pitchFamily="34" charset="0"/>
              <a:buChar char="•"/>
            </a:pPr>
            <a:r>
              <a:rPr lang="es-PE" sz="2400" dirty="0"/>
              <a:t>El trabajo en equipo implica un grupo de personas trabajando de manera coordinada en la ejecución de un proyecto.</a:t>
            </a:r>
            <a:endParaRPr lang="es-MX" sz="2400" spc="-20" dirty="0">
              <a:latin typeface="Arial"/>
              <a:cs typeface="Arial"/>
            </a:endParaRPr>
          </a:p>
        </p:txBody>
      </p:sp>
      <p:pic>
        <p:nvPicPr>
          <p:cNvPr id="2050" name="Picture 2" descr="Trabajo en Equipo">
            <a:extLst>
              <a:ext uri="{FF2B5EF4-FFF2-40B4-BE49-F238E27FC236}">
                <a16:creationId xmlns:a16="http://schemas.microsoft.com/office/drawing/2014/main" id="{1BD26218-F3BF-40BD-AA41-D566D42670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717" y="3159124"/>
            <a:ext cx="7873366" cy="3236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4767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343C6038-F897-4347-89FB-FA427BB81541}"/>
              </a:ext>
            </a:extLst>
          </p:cNvPr>
          <p:cNvSpPr txBox="1">
            <a:spLocks/>
          </p:cNvSpPr>
          <p:nvPr/>
        </p:nvSpPr>
        <p:spPr>
          <a:xfrm>
            <a:off x="209549" y="234679"/>
            <a:ext cx="7486651" cy="58830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z="3600" spc="30" dirty="0">
                <a:solidFill>
                  <a:schemeClr val="bg1"/>
                </a:solidFill>
              </a:rPr>
              <a:t>Trabajo en equipo</a:t>
            </a:r>
          </a:p>
        </p:txBody>
      </p:sp>
      <p:sp>
        <p:nvSpPr>
          <p:cNvPr id="3" name="object 17">
            <a:extLst>
              <a:ext uri="{FF2B5EF4-FFF2-40B4-BE49-F238E27FC236}">
                <a16:creationId xmlns:a16="http://schemas.microsoft.com/office/drawing/2014/main" id="{9466314F-E5A8-4E57-81B6-8CC46DD473B0}"/>
              </a:ext>
            </a:extLst>
          </p:cNvPr>
          <p:cNvSpPr txBox="1"/>
          <p:nvPr/>
        </p:nvSpPr>
        <p:spPr>
          <a:xfrm>
            <a:off x="209549" y="1167153"/>
            <a:ext cx="8721091" cy="5565391"/>
          </a:xfrm>
          <a:prstGeom prst="rect">
            <a:avLst/>
          </a:prstGeom>
        </p:spPr>
        <p:txBody>
          <a:bodyPr vert="horz" wrap="square" lIns="0" tIns="25167" rIns="0" bIns="0" rtlCol="0">
            <a:spAutoFit/>
          </a:bodyPr>
          <a:lstStyle/>
          <a:p>
            <a:r>
              <a:rPr lang="es-PE" dirty="0"/>
              <a:t>Para que un equipo de Trabajo funcione necesitara lo que se le conoce como las «5C»:</a:t>
            </a:r>
          </a:p>
          <a:p>
            <a:pPr marL="457200" indent="-457200" algn="just">
              <a:buFont typeface="+mj-lt"/>
              <a:buAutoNum type="arabicPeriod"/>
            </a:pPr>
            <a:r>
              <a:rPr lang="es-PE" b="1" dirty="0"/>
              <a:t>Complementariedad</a:t>
            </a:r>
            <a:r>
              <a:rPr lang="es-PE" dirty="0"/>
              <a:t>: Cada miembro domina una parcela determinada del proyecto. Todos estos conocimientos son necesarios para sacar el trabajo adelante.</a:t>
            </a:r>
          </a:p>
          <a:p>
            <a:pPr marL="457200" indent="-457200" algn="just">
              <a:buFont typeface="+mj-lt"/>
              <a:buAutoNum type="arabicPeriod"/>
            </a:pPr>
            <a:endParaRPr lang="es-PE" b="1" dirty="0"/>
          </a:p>
          <a:p>
            <a:pPr marL="457200" indent="-457200" algn="just">
              <a:buFont typeface="+mj-lt"/>
              <a:buAutoNum type="arabicPeriod"/>
            </a:pPr>
            <a:r>
              <a:rPr lang="es-PE" b="1" dirty="0"/>
              <a:t>Coordinación</a:t>
            </a:r>
            <a:r>
              <a:rPr lang="es-PE" dirty="0"/>
              <a:t>: El grupo de profesionales, con un líder a la cabeza, debe actuar de forma organizada con vista a sacar el proyecto adelante.</a:t>
            </a:r>
          </a:p>
          <a:p>
            <a:pPr marL="457200" indent="-457200" algn="just">
              <a:buFont typeface="+mj-lt"/>
              <a:buAutoNum type="arabicPeriod"/>
            </a:pPr>
            <a:endParaRPr lang="es-PE" b="1" dirty="0"/>
          </a:p>
          <a:p>
            <a:pPr marL="457200" indent="-457200" algn="just">
              <a:buFont typeface="+mj-lt"/>
              <a:buAutoNum type="arabicPeriod"/>
            </a:pPr>
            <a:r>
              <a:rPr lang="es-PE" b="1" dirty="0"/>
              <a:t>Comunicación</a:t>
            </a:r>
            <a:r>
              <a:rPr lang="es-PE" dirty="0"/>
              <a:t>: El trabajo en equipo exige una comunicación abierta entre todos sus miembros, esencial para poder coordinar las distintas actuaciones individuales. El equipo funciona como una maquinaria con diversos engranajes; todos deben funcionar a la perfección, si uno falla el equipo fracasa.</a:t>
            </a:r>
          </a:p>
          <a:p>
            <a:pPr marL="457200" indent="-457200" algn="just">
              <a:buFont typeface="+mj-lt"/>
              <a:buAutoNum type="arabicPeriod"/>
            </a:pPr>
            <a:endParaRPr lang="es-PE" b="1" dirty="0"/>
          </a:p>
          <a:p>
            <a:pPr marL="457200" indent="-457200" algn="just">
              <a:buFont typeface="+mj-lt"/>
              <a:buAutoNum type="arabicPeriod"/>
            </a:pPr>
            <a:r>
              <a:rPr lang="es-PE" b="1" dirty="0"/>
              <a:t>Confianza:</a:t>
            </a:r>
            <a:r>
              <a:rPr lang="es-PE" dirty="0"/>
              <a:t> Cada persona confía en el buen hacer del resto de sus compañeros. Esta confianza le lleva a aceptar anteponer el éxito del equipo al propio lucimiento personal. Cada miembro trata de aportar lo mejor de si mismo, no buscando destacar entre sus compañeros sino porque confía en que estos harán lo mismo; sabe que éste es el único modo de que el equipo pueda lograr su objetivo.</a:t>
            </a:r>
          </a:p>
          <a:p>
            <a:pPr marL="457200" indent="-457200" algn="just">
              <a:buFont typeface="+mj-lt"/>
              <a:buAutoNum type="arabicPeriod"/>
            </a:pPr>
            <a:endParaRPr lang="es-PE" b="1" dirty="0"/>
          </a:p>
          <a:p>
            <a:pPr marL="457200" indent="-457200" algn="just">
              <a:buFont typeface="+mj-lt"/>
              <a:buAutoNum type="arabicPeriod"/>
            </a:pPr>
            <a:r>
              <a:rPr lang="es-PE" b="1" dirty="0"/>
              <a:t>Compromiso</a:t>
            </a:r>
            <a:r>
              <a:rPr lang="es-PE" dirty="0"/>
              <a:t>: Cada miembro se compromete a aportar lo mejor de si mismo, a poner todo su empeño en sacar el trabajo adelante.</a:t>
            </a:r>
          </a:p>
        </p:txBody>
      </p:sp>
    </p:spTree>
    <p:extLst>
      <p:ext uri="{BB962C8B-B14F-4D97-AF65-F5344CB8AC3E}">
        <p14:creationId xmlns:p14="http://schemas.microsoft.com/office/powerpoint/2010/main" val="32878491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3">
            <a:extLst>
              <a:ext uri="{FF2B5EF4-FFF2-40B4-BE49-F238E27FC236}">
                <a16:creationId xmlns:a16="http://schemas.microsoft.com/office/drawing/2014/main" id="{E3A5093A-3D99-470E-9B5A-BDB591B3CC1D}"/>
              </a:ext>
            </a:extLst>
          </p:cNvPr>
          <p:cNvSpPr txBox="1">
            <a:spLocks/>
          </p:cNvSpPr>
          <p:nvPr/>
        </p:nvSpPr>
        <p:spPr>
          <a:xfrm>
            <a:off x="152735" y="184535"/>
            <a:ext cx="8048730" cy="711415"/>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25168">
              <a:spcBef>
                <a:spcPts val="268"/>
              </a:spcBef>
            </a:pPr>
            <a:r>
              <a:rPr lang="es-MX" spc="30" dirty="0">
                <a:solidFill>
                  <a:schemeClr val="bg1"/>
                </a:solidFill>
              </a:rPr>
              <a:t>Introducción</a:t>
            </a:r>
            <a:endParaRPr lang="es-MX" spc="20" dirty="0">
              <a:solidFill>
                <a:schemeClr val="bg1"/>
              </a:solidFill>
            </a:endParaRPr>
          </a:p>
        </p:txBody>
      </p:sp>
      <p:sp>
        <p:nvSpPr>
          <p:cNvPr id="16" name="object 14">
            <a:extLst>
              <a:ext uri="{FF2B5EF4-FFF2-40B4-BE49-F238E27FC236}">
                <a16:creationId xmlns:a16="http://schemas.microsoft.com/office/drawing/2014/main" id="{1BD22885-A24E-474C-9F7D-9B2ACA25B564}"/>
              </a:ext>
            </a:extLst>
          </p:cNvPr>
          <p:cNvSpPr txBox="1"/>
          <p:nvPr/>
        </p:nvSpPr>
        <p:spPr>
          <a:xfrm>
            <a:off x="908147" y="1500681"/>
            <a:ext cx="7673145" cy="3058666"/>
          </a:xfrm>
          <a:prstGeom prst="rect">
            <a:avLst/>
          </a:prstGeom>
        </p:spPr>
        <p:txBody>
          <a:bodyPr vert="horz" wrap="square" lIns="0" tIns="177427" rIns="0" bIns="0" rtlCol="0">
            <a:spAutoFit/>
          </a:bodyPr>
          <a:lstStyle/>
          <a:p>
            <a:pPr marL="482368" indent="-457200">
              <a:spcBef>
                <a:spcPts val="1397"/>
              </a:spcBef>
              <a:buFont typeface="+mj-lt"/>
              <a:buAutoNum type="arabicPeriod"/>
            </a:pPr>
            <a:r>
              <a:rPr sz="3600" spc="-10" dirty="0">
                <a:latin typeface="Arial"/>
                <a:cs typeface="Arial"/>
              </a:rPr>
              <a:t>¿Qué es </a:t>
            </a:r>
            <a:r>
              <a:rPr lang="es-PE" sz="3600" spc="-10" dirty="0">
                <a:latin typeface="Arial"/>
                <a:cs typeface="Arial"/>
              </a:rPr>
              <a:t>el trabajo en equipo</a:t>
            </a:r>
            <a:r>
              <a:rPr sz="3600" spc="-10" dirty="0">
                <a:latin typeface="Arial"/>
                <a:cs typeface="Arial"/>
              </a:rPr>
              <a:t>?</a:t>
            </a:r>
          </a:p>
          <a:p>
            <a:pPr marL="482368" marR="10067" indent="-457200">
              <a:lnSpc>
                <a:spcPct val="145800"/>
              </a:lnSpc>
              <a:buFont typeface="+mj-lt"/>
              <a:buAutoNum type="arabicPeriod"/>
            </a:pPr>
            <a:r>
              <a:rPr lang="es-PE" sz="3600" b="1" spc="-20" dirty="0">
                <a:solidFill>
                  <a:srgbClr val="0000FF"/>
                </a:solidFill>
                <a:latin typeface="Arial"/>
                <a:cs typeface="Arial"/>
              </a:rPr>
              <a:t>Técnicas de trabajo en equipo</a:t>
            </a:r>
          </a:p>
          <a:p>
            <a:pPr marL="482368" marR="10067" indent="-457200">
              <a:lnSpc>
                <a:spcPct val="145800"/>
              </a:lnSpc>
              <a:buFont typeface="+mj-lt"/>
              <a:buAutoNum type="arabicPeriod"/>
            </a:pPr>
            <a:endParaRPr lang="es-PE" sz="3600" b="1" spc="-20" dirty="0">
              <a:solidFill>
                <a:srgbClr val="0000FF"/>
              </a:solidFill>
              <a:latin typeface="Arial"/>
              <a:cs typeface="Arial"/>
            </a:endParaRPr>
          </a:p>
          <a:p>
            <a:pPr marL="25168">
              <a:spcBef>
                <a:spcPts val="1199"/>
              </a:spcBef>
            </a:pPr>
            <a:endParaRPr sz="3600" dirty="0">
              <a:latin typeface="Arial"/>
              <a:cs typeface="Arial"/>
            </a:endParaRPr>
          </a:p>
        </p:txBody>
      </p:sp>
    </p:spTree>
    <p:extLst>
      <p:ext uri="{BB962C8B-B14F-4D97-AF65-F5344CB8AC3E}">
        <p14:creationId xmlns:p14="http://schemas.microsoft.com/office/powerpoint/2010/main" val="409204081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946571" y="28435"/>
            <a:ext cx="7486650" cy="1426996"/>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pc="30" dirty="0">
                <a:solidFill>
                  <a:schemeClr val="bg1"/>
                </a:solidFill>
              </a:rPr>
              <a:t>Trabajo en equipo</a:t>
            </a:r>
          </a:p>
          <a:p>
            <a:pPr marL="25168">
              <a:spcBef>
                <a:spcPts val="268"/>
              </a:spcBef>
            </a:pPr>
            <a:endParaRPr lang="es-PE" spc="20" dirty="0">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369143" y="1111088"/>
            <a:ext cx="8641507" cy="4678994"/>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s-PE" sz="2400" dirty="0"/>
              <a:t>Existen 2 tipos de trabajo en equipo</a:t>
            </a:r>
          </a:p>
          <a:p>
            <a:pPr marL="514350" indent="-514350">
              <a:buFont typeface="+mj-lt"/>
              <a:buAutoNum type="arabicPeriod"/>
            </a:pPr>
            <a:r>
              <a:rPr lang="es-PE" sz="2400" dirty="0"/>
              <a:t>Grupo de Trabajo</a:t>
            </a:r>
          </a:p>
          <a:p>
            <a:pPr marL="914400" lvl="1" indent="-514350">
              <a:buFont typeface="+mj-lt"/>
              <a:buAutoNum type="arabicPeriod"/>
            </a:pPr>
            <a:r>
              <a:rPr lang="es-PE" sz="2400" dirty="0"/>
              <a:t>cada persona responde individualmente</a:t>
            </a:r>
          </a:p>
          <a:p>
            <a:pPr marL="914400" lvl="1" indent="-514350">
              <a:buFont typeface="+mj-lt"/>
              <a:buAutoNum type="arabicPeriod"/>
            </a:pPr>
            <a:r>
              <a:rPr lang="es-PE" sz="2400" dirty="0"/>
              <a:t>sus miembros tienen una formación similar y realizan el mismo tipo de trabajo (no son complementarios)</a:t>
            </a:r>
          </a:p>
          <a:p>
            <a:pPr marL="914400" lvl="1" indent="-514350">
              <a:buFont typeface="+mj-lt"/>
              <a:buAutoNum type="arabicPeriod"/>
            </a:pPr>
            <a:r>
              <a:rPr lang="es-PE" sz="2400" dirty="0"/>
              <a:t>cada persona tiene una manera particular de funcionar</a:t>
            </a:r>
          </a:p>
          <a:p>
            <a:pPr marL="514350" indent="-514350">
              <a:buFont typeface="+mj-lt"/>
              <a:buAutoNum type="arabicPeriod"/>
            </a:pPr>
            <a:r>
              <a:rPr lang="es-PE" sz="2400" dirty="0"/>
              <a:t>Equipo de Trabajo</a:t>
            </a:r>
          </a:p>
          <a:p>
            <a:pPr marL="914400" lvl="1" indent="-514350">
              <a:buFont typeface="+mj-lt"/>
              <a:buAutoNum type="arabicPeriod"/>
            </a:pPr>
            <a:r>
              <a:rPr lang="es-PE" sz="2400" dirty="0"/>
              <a:t>el equipo responde en conjunto del trabajo realizado</a:t>
            </a:r>
          </a:p>
          <a:p>
            <a:pPr marL="914400" lvl="1" indent="-514350">
              <a:buFont typeface="+mj-lt"/>
              <a:buAutoNum type="arabicPeriod"/>
            </a:pPr>
            <a:r>
              <a:rPr lang="es-PE" sz="2400" dirty="0"/>
              <a:t>cada miembro realiza una parte concreta del proyecto</a:t>
            </a:r>
          </a:p>
          <a:p>
            <a:pPr marL="914400" lvl="1" indent="-514350">
              <a:buFont typeface="+mj-lt"/>
              <a:buAutoNum type="arabicPeriod"/>
            </a:pPr>
            <a:r>
              <a:rPr lang="es-PE" sz="2400" dirty="0"/>
              <a:t>es necesario la coordinación, lo que va a exigir establecer unos estándares comunes de actuación.</a:t>
            </a:r>
          </a:p>
        </p:txBody>
      </p:sp>
    </p:spTree>
    <p:extLst>
      <p:ext uri="{BB962C8B-B14F-4D97-AF65-F5344CB8AC3E}">
        <p14:creationId xmlns:p14="http://schemas.microsoft.com/office/powerpoint/2010/main" val="34061261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946571" y="28435"/>
            <a:ext cx="7486650" cy="1426996"/>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pc="30" dirty="0">
                <a:solidFill>
                  <a:schemeClr val="bg1"/>
                </a:solidFill>
              </a:rPr>
              <a:t>Trabajo en equipo</a:t>
            </a:r>
          </a:p>
          <a:p>
            <a:pPr marL="25168">
              <a:spcBef>
                <a:spcPts val="268"/>
              </a:spcBef>
            </a:pPr>
            <a:endParaRPr lang="es-PE" spc="20" dirty="0">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369143" y="1111088"/>
            <a:ext cx="8641507" cy="4235796"/>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s-PE" sz="2400" dirty="0"/>
              <a:t>Son procedimientos que buscan solucionar problemas en forma sistemática.</a:t>
            </a:r>
          </a:p>
          <a:p>
            <a:pPr marL="0" indent="0">
              <a:buNone/>
            </a:pPr>
            <a:endParaRPr lang="es-PE" sz="2400" dirty="0"/>
          </a:p>
          <a:p>
            <a:r>
              <a:rPr lang="es-PE" sz="2400" dirty="0"/>
              <a:t>Explicativas:. Interrogativas, Mesa Redonda. </a:t>
            </a:r>
          </a:p>
          <a:p>
            <a:r>
              <a:rPr lang="es-PE" sz="2400" dirty="0"/>
              <a:t>Discusión dirigida: Debates, círculos concéntricos y tormenta de ideas. </a:t>
            </a:r>
          </a:p>
          <a:p>
            <a:r>
              <a:rPr lang="es-PE" sz="2400" dirty="0"/>
              <a:t>Demostración </a:t>
            </a:r>
          </a:p>
          <a:p>
            <a:r>
              <a:rPr lang="es-PE" sz="2400" dirty="0"/>
              <a:t>Participación </a:t>
            </a:r>
          </a:p>
          <a:p>
            <a:r>
              <a:rPr lang="es-PE" sz="2400" dirty="0"/>
              <a:t>Tarea dirigida </a:t>
            </a:r>
          </a:p>
          <a:p>
            <a:r>
              <a:rPr lang="es-PE" sz="2400" dirty="0"/>
              <a:t>Aprendizaje cooperativo</a:t>
            </a:r>
          </a:p>
        </p:txBody>
      </p:sp>
    </p:spTree>
    <p:extLst>
      <p:ext uri="{BB962C8B-B14F-4D97-AF65-F5344CB8AC3E}">
        <p14:creationId xmlns:p14="http://schemas.microsoft.com/office/powerpoint/2010/main" val="39235120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946571" y="28435"/>
            <a:ext cx="7486650" cy="1426996"/>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pc="30" dirty="0">
                <a:solidFill>
                  <a:schemeClr val="bg1"/>
                </a:solidFill>
              </a:rPr>
              <a:t>Trabajo en equipo</a:t>
            </a:r>
          </a:p>
          <a:p>
            <a:pPr marL="25168">
              <a:spcBef>
                <a:spcPts val="268"/>
              </a:spcBef>
            </a:pPr>
            <a:endParaRPr lang="es-PE" spc="20" dirty="0">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0" y="1111088"/>
            <a:ext cx="9143999" cy="5737746"/>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s-PE" sz="1600" dirty="0"/>
              <a:t>Tipos de evento para trabajo en equipo:	</a:t>
            </a:r>
          </a:p>
          <a:p>
            <a:r>
              <a:rPr lang="es-PE" sz="1600" dirty="0"/>
              <a:t>Mesa redonda. </a:t>
            </a:r>
          </a:p>
          <a:p>
            <a:pPr lvl="1"/>
            <a:r>
              <a:rPr lang="es-PE" sz="1600" dirty="0"/>
              <a:t>Objetivos:</a:t>
            </a:r>
          </a:p>
          <a:p>
            <a:pPr lvl="2"/>
            <a:r>
              <a:rPr lang="es-PE" sz="1600" dirty="0"/>
              <a:t>Que el individuo aprenda a expresar sus propias ideas. </a:t>
            </a:r>
          </a:p>
          <a:p>
            <a:pPr lvl="2"/>
            <a:r>
              <a:rPr lang="es-PE" sz="1600" dirty="0"/>
              <a:t>Que el individuo aprenda a defender su punto de vista. </a:t>
            </a:r>
          </a:p>
          <a:p>
            <a:pPr lvl="2"/>
            <a:r>
              <a:rPr lang="es-PE" sz="1600" dirty="0"/>
              <a:t>Inducir a que el individuo investigue. </a:t>
            </a:r>
          </a:p>
          <a:p>
            <a:pPr lvl="1"/>
            <a:r>
              <a:rPr lang="es-PE" sz="1600" dirty="0"/>
              <a:t>Ventajas: </a:t>
            </a:r>
          </a:p>
          <a:p>
            <a:pPr lvl="2"/>
            <a:r>
              <a:rPr lang="es-PE" sz="1600" dirty="0"/>
              <a:t>Enseña a las personas a discutir, escuchar argumentos de otros, a reflexionar acerca de lo dicho y aceptar opiniones ajenas. </a:t>
            </a:r>
          </a:p>
          <a:p>
            <a:pPr lvl="2"/>
            <a:r>
              <a:rPr lang="es-PE" sz="1600" dirty="0"/>
              <a:t>Enseña a defender sus propias opiniones con argumentos adecuados y con una exposición lógica.</a:t>
            </a:r>
          </a:p>
          <a:p>
            <a:r>
              <a:rPr lang="es-PE" sz="1600" dirty="0"/>
              <a:t>Seminario.</a:t>
            </a:r>
          </a:p>
          <a:p>
            <a:pPr lvl="1"/>
            <a:r>
              <a:rPr lang="es-PE" sz="1600" dirty="0"/>
              <a:t>Objetivos: </a:t>
            </a:r>
          </a:p>
          <a:p>
            <a:pPr lvl="2"/>
            <a:r>
              <a:rPr lang="es-PE" sz="1600" dirty="0"/>
              <a:t>Enseñar a sistematizar los hechos observados. </a:t>
            </a:r>
          </a:p>
          <a:p>
            <a:pPr lvl="2"/>
            <a:r>
              <a:rPr lang="es-PE" sz="1600" dirty="0"/>
              <a:t>Fomentar y ayudar a: Al análisis de los hechos y  A la reflexión de los problemas antes de exponerlos. </a:t>
            </a:r>
          </a:p>
          <a:p>
            <a:pPr lvl="1"/>
            <a:r>
              <a:rPr lang="es-PE" sz="1600" dirty="0"/>
              <a:t>Ventajas:</a:t>
            </a:r>
          </a:p>
          <a:p>
            <a:pPr lvl="2"/>
            <a:r>
              <a:rPr lang="es-PE" sz="1600" dirty="0"/>
              <a:t>Es muy útil para el estudio de situaciones o problemas donde no hay soluciones predeterminadas. </a:t>
            </a:r>
          </a:p>
          <a:p>
            <a:pPr lvl="2"/>
            <a:r>
              <a:rPr lang="es-PE" sz="1600" dirty="0"/>
              <a:t>Favorece y desarrolla la capacidad de razonamiento. </a:t>
            </a:r>
          </a:p>
          <a:p>
            <a:pPr lvl="2"/>
            <a:r>
              <a:rPr lang="es-PE" sz="1600" dirty="0"/>
              <a:t>Despierta el espíritu de investigación</a:t>
            </a:r>
          </a:p>
        </p:txBody>
      </p:sp>
    </p:spTree>
    <p:extLst>
      <p:ext uri="{BB962C8B-B14F-4D97-AF65-F5344CB8AC3E}">
        <p14:creationId xmlns:p14="http://schemas.microsoft.com/office/powerpoint/2010/main" val="314497445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946571" y="28435"/>
            <a:ext cx="7486650" cy="1426996"/>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445">
              <a:spcBef>
                <a:spcPts val="268"/>
              </a:spcBef>
            </a:pPr>
            <a:r>
              <a:rPr lang="es-MX" spc="30" dirty="0">
                <a:solidFill>
                  <a:schemeClr val="bg1"/>
                </a:solidFill>
              </a:rPr>
              <a:t>Trabajo en equipo</a:t>
            </a:r>
          </a:p>
          <a:p>
            <a:pPr marL="25168">
              <a:spcBef>
                <a:spcPts val="268"/>
              </a:spcBef>
            </a:pPr>
            <a:endParaRPr lang="es-PE" spc="20" dirty="0">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0" y="1720688"/>
            <a:ext cx="9143999" cy="3226289"/>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s-PE" sz="1600" dirty="0"/>
              <a:t>Tipos de evento para trabajo en equipo:	</a:t>
            </a:r>
          </a:p>
          <a:p>
            <a:r>
              <a:rPr lang="es-PE" sz="1600" dirty="0"/>
              <a:t>Foro. </a:t>
            </a:r>
          </a:p>
          <a:p>
            <a:pPr lvl="1"/>
            <a:r>
              <a:rPr lang="es-PE" sz="1600" dirty="0"/>
              <a:t>Objetivos:</a:t>
            </a:r>
          </a:p>
          <a:p>
            <a:pPr lvl="2"/>
            <a:r>
              <a:rPr lang="es-PE" sz="1600" dirty="0"/>
              <a:t>Permite la libre expresión de ideas de todos los miembros del equipo. </a:t>
            </a:r>
          </a:p>
          <a:p>
            <a:pPr lvl="2"/>
            <a:r>
              <a:rPr lang="es-PE" sz="1600" dirty="0"/>
              <a:t>Propicia la integración, el espíritu crítico y participativo. </a:t>
            </a:r>
          </a:p>
          <a:p>
            <a:pPr lvl="1"/>
            <a:r>
              <a:rPr lang="es-PE" sz="1600" dirty="0"/>
              <a:t>Ventajas: </a:t>
            </a:r>
          </a:p>
          <a:p>
            <a:pPr lvl="2"/>
            <a:r>
              <a:rPr lang="es-PE" sz="1600" dirty="0"/>
              <a:t>La participación de todos los miembros del equipo. </a:t>
            </a:r>
          </a:p>
          <a:p>
            <a:pPr lvl="2"/>
            <a:r>
              <a:rPr lang="es-PE" sz="1600" dirty="0"/>
              <a:t>Se profundiza en el tema. </a:t>
            </a:r>
          </a:p>
          <a:p>
            <a:pPr lvl="2"/>
            <a:r>
              <a:rPr lang="es-PE" sz="1600" dirty="0"/>
              <a:t>No requiere de materiales didácticos </a:t>
            </a:r>
          </a:p>
          <a:p>
            <a:pPr lvl="2"/>
            <a:r>
              <a:rPr lang="es-PE" sz="1600" dirty="0"/>
              <a:t>Desarrolla la capacidad de razonamiento</a:t>
            </a:r>
          </a:p>
          <a:p>
            <a:endParaRPr lang="es-PE" sz="1600" dirty="0"/>
          </a:p>
        </p:txBody>
      </p:sp>
    </p:spTree>
    <p:extLst>
      <p:ext uri="{BB962C8B-B14F-4D97-AF65-F5344CB8AC3E}">
        <p14:creationId xmlns:p14="http://schemas.microsoft.com/office/powerpoint/2010/main" val="2241869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946571" y="28435"/>
            <a:ext cx="7486650" cy="1426996"/>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140">
              <a:spcBef>
                <a:spcPts val="268"/>
              </a:spcBef>
            </a:pPr>
            <a:r>
              <a:rPr lang="es-MX" spc="30">
                <a:solidFill>
                  <a:schemeClr val="bg1"/>
                </a:solidFill>
                <a:ea typeface="MS PGothic"/>
              </a:rPr>
              <a:t>Entorno colaborativo</a:t>
            </a:r>
            <a:endParaRPr lang="en-US"/>
          </a:p>
          <a:p>
            <a:pPr marL="25168">
              <a:spcBef>
                <a:spcPts val="268"/>
              </a:spcBef>
            </a:pPr>
            <a:endParaRPr lang="es-PE" spc="20" dirty="0">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0" y="1720688"/>
            <a:ext cx="9143999" cy="2918512"/>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000">
                <a:ea typeface="+mn-lt"/>
                <a:cs typeface="+mn-lt"/>
              </a:rPr>
              <a:t>Un Entorno Colaborativo es una red de trabajo intra e inter empresas, con soporte de tecnología Web, sustentada por modelos de comunicación y cooperación que complementan y refuerzan los sistemas de gestión de la compañía para desarrollar a sus profesionales y mejorar los resultados de negocio. </a:t>
            </a:r>
            <a:endParaRPr lang="en-US" sz="2000">
              <a:cs typeface="+mn-lt"/>
            </a:endParaRPr>
          </a:p>
          <a:p>
            <a:pPr algn="just"/>
            <a:r>
              <a:rPr lang="es-PE" sz="2000">
                <a:ea typeface="+mn-lt"/>
                <a:cs typeface="+mn-lt"/>
              </a:rPr>
              <a:t>Se trata de comunidades especializadas de profesionales, con identidad propia y retos comunes, como por ejemplo equipos comerciales, directivos, mandos medios, jefes de proyecto, unidades departamentales,… para los que se diseñan e implantan herramientas de comunicación y cooperación en red a medida de cada cliente.</a:t>
            </a:r>
          </a:p>
          <a:p>
            <a:pPr algn="just"/>
            <a:endParaRPr lang="es-PE" sz="2000" dirty="0">
              <a:cs typeface="Calibri"/>
            </a:endParaRPr>
          </a:p>
        </p:txBody>
      </p:sp>
    </p:spTree>
    <p:extLst>
      <p:ext uri="{BB962C8B-B14F-4D97-AF65-F5344CB8AC3E}">
        <p14:creationId xmlns:p14="http://schemas.microsoft.com/office/powerpoint/2010/main" val="16208446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40798" y="449803"/>
            <a:ext cx="9140045" cy="526749"/>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140">
              <a:spcBef>
                <a:spcPts val="268"/>
              </a:spcBef>
            </a:pPr>
            <a:r>
              <a:rPr lang="es-MX" sz="3200" spc="30">
                <a:solidFill>
                  <a:schemeClr val="bg1"/>
                </a:solidFill>
                <a:ea typeface="+mj-lt"/>
                <a:cs typeface="+mj-lt"/>
              </a:rPr>
              <a:t>¿Cuál es el objetivo de un entorno colaborativo?</a:t>
            </a:r>
            <a:endParaRPr lang="en-US" sz="3200">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43132" y="1116839"/>
            <a:ext cx="8899584" cy="5405347"/>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000">
                <a:ea typeface="+mn-lt"/>
                <a:cs typeface="+mn-lt"/>
              </a:rPr>
              <a:t>Centralizar la información, documentación, colaboración y todo aquello que permita optimizar la comunicación dentro del proyecto en un ámbito online disponible desde cualquier sitio y a cualquier hora.</a:t>
            </a:r>
            <a:endParaRPr lang="en-US" sz="2000">
              <a:ea typeface="+mn-lt"/>
              <a:cs typeface="+mn-lt"/>
            </a:endParaRPr>
          </a:p>
          <a:p>
            <a:pPr algn="just"/>
            <a:r>
              <a:rPr lang="es-PE" sz="2000">
                <a:ea typeface="+mn-lt"/>
                <a:cs typeface="+mn-lt"/>
              </a:rPr>
              <a:t>Características de un entorno colaborativo:</a:t>
            </a:r>
          </a:p>
          <a:p>
            <a:pPr lvl="1" algn="just"/>
            <a:r>
              <a:rPr lang="es-PE" sz="1600" b="1">
                <a:ea typeface="+mn-lt"/>
                <a:cs typeface="+mn-lt"/>
              </a:rPr>
              <a:t>Gestión de Interesados o Stakeholders.</a:t>
            </a:r>
            <a:r>
              <a:rPr lang="es-PE" sz="1600">
                <a:ea typeface="+mn-lt"/>
                <a:cs typeface="+mn-lt"/>
              </a:rPr>
              <a:t> El acceso al entorno colaborativo está restringido a usuarios autorizados y cada uno de ellos tendrá permisos según el rol que desempeñe en el proyecto. </a:t>
            </a:r>
          </a:p>
          <a:p>
            <a:pPr lvl="1" algn="just"/>
            <a:r>
              <a:rPr lang="es-PE" sz="1600" b="1">
                <a:ea typeface="+mn-lt"/>
                <a:cs typeface="+mn-lt"/>
              </a:rPr>
              <a:t>Gestor de Documentación para controlar el acceso a la información y gestionar el conocimiento</a:t>
            </a:r>
            <a:r>
              <a:rPr lang="es-PE" sz="1600">
                <a:ea typeface="+mn-lt"/>
                <a:cs typeface="+mn-lt"/>
              </a:rPr>
              <a:t>. Este gestor contará con un repositorio de documentos, que permitirá compartir e intercambiar ficheros, gestión de versiones, etiquetado de los documentos e integrará un buscador. Los documentos se podrán organizar por carpetas, controlar el acceso a los mismos según el rol y se podrán habilitar alertas sobre los mismos para informar de cambios en el estado de los documentos o la subida de nuevos. Esto facilita la gestión de entregables del proyecto, el acceso y control a toda la documentación del proyecto. </a:t>
            </a:r>
          </a:p>
          <a:p>
            <a:pPr lvl="1" algn="just"/>
            <a:r>
              <a:rPr lang="es-PE" sz="1600" b="1">
                <a:ea typeface="+mn-lt"/>
                <a:cs typeface="+mn-lt"/>
              </a:rPr>
              <a:t>Comunicación y Colaboración</a:t>
            </a:r>
            <a:r>
              <a:rPr lang="es-PE" sz="1600">
                <a:ea typeface="+mn-lt"/>
                <a:cs typeface="+mn-lt"/>
              </a:rPr>
              <a:t>, para fomentar la difusión de la información y la participación activa. Calendarios: con los hitos del proyecto, reuniones, etc. Gestión de tareas: se asignan tareas a sus miembros. Alertas y Notificaciones, de nuevos eventos, nuevos documentos, etc. Correo Web. Blogs y wikis con contenidos relacionados con el proyecto y comentarios; para mantener conversaciones en las que se plantean dudas y se aclaran a la vista de todos. Sitio Web del proyecto en el que centralizar todas las herramientas. Foros de discusión. Chat y Videoconferencia.</a:t>
            </a:r>
            <a:endParaRPr lang="es-PE" sz="1600"/>
          </a:p>
        </p:txBody>
      </p:sp>
    </p:spTree>
    <p:extLst>
      <p:ext uri="{BB962C8B-B14F-4D97-AF65-F5344CB8AC3E}">
        <p14:creationId xmlns:p14="http://schemas.microsoft.com/office/powerpoint/2010/main" val="2556351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40798" y="449803"/>
            <a:ext cx="9140045" cy="526749"/>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140">
              <a:spcBef>
                <a:spcPts val="268"/>
              </a:spcBef>
            </a:pPr>
            <a:r>
              <a:rPr lang="es-MX" sz="3200" spc="30">
                <a:solidFill>
                  <a:schemeClr val="bg1"/>
                </a:solidFill>
                <a:ea typeface="+mj-lt"/>
                <a:cs typeface="+mj-lt"/>
              </a:rPr>
              <a:t>Ventajas de uso de un Entorno Colaborativo</a:t>
            </a:r>
            <a:endParaRPr lang="en-US">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43132" y="1116839"/>
            <a:ext cx="8899584" cy="5380725"/>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000">
                <a:ea typeface="+mn-lt"/>
                <a:cs typeface="+mn-lt"/>
              </a:rPr>
              <a:t>Mejorar la comunicación al fomentar el compartir información, documentación y las relaciones entre los interesados en el proyecto. </a:t>
            </a:r>
            <a:endParaRPr lang="en-US" sz="2000">
              <a:ea typeface="+mn-lt"/>
              <a:cs typeface="+mn-lt"/>
            </a:endParaRPr>
          </a:p>
          <a:p>
            <a:pPr algn="just"/>
            <a:r>
              <a:rPr lang="es-PE" sz="2000">
                <a:ea typeface="+mn-lt"/>
                <a:cs typeface="+mn-lt"/>
              </a:rPr>
              <a:t>Poner a disposición de los interesados en el proyecto la información relevante. Se distribuye la misma información a todos los interesados de forma sencilla y de manera simultánea.</a:t>
            </a:r>
            <a:endParaRPr lang="en-US" sz="2000">
              <a:ea typeface="+mn-lt"/>
              <a:cs typeface="+mn-lt"/>
            </a:endParaRPr>
          </a:p>
          <a:p>
            <a:pPr algn="just"/>
            <a:r>
              <a:rPr lang="es-PE" sz="2000">
                <a:ea typeface="+mn-lt"/>
                <a:cs typeface="+mn-lt"/>
              </a:rPr>
              <a:t>Obtenemos un lugar confiable y seguro en el que los límites para comunicarse con todos los interesados del proyecto desaparecen. </a:t>
            </a:r>
            <a:endParaRPr lang="en-US" sz="2000">
              <a:ea typeface="+mn-lt"/>
              <a:cs typeface="+mn-lt"/>
            </a:endParaRPr>
          </a:p>
          <a:p>
            <a:pPr algn="just"/>
            <a:r>
              <a:rPr lang="es-PE" sz="2000">
                <a:ea typeface="+mn-lt"/>
                <a:cs typeface="+mn-lt"/>
              </a:rPr>
              <a:t>Aumentar la transparencia de nuestras actuaciones. </a:t>
            </a:r>
            <a:endParaRPr lang="en-US" sz="2000">
              <a:ea typeface="+mn-lt"/>
              <a:cs typeface="+mn-lt"/>
            </a:endParaRPr>
          </a:p>
          <a:p>
            <a:pPr algn="just"/>
            <a:r>
              <a:rPr lang="es-PE" sz="2000">
                <a:ea typeface="+mn-lt"/>
                <a:cs typeface="+mn-lt"/>
              </a:rPr>
              <a:t>Reducimos costes ahorrando tiempo en búsqueda de información o acceso a la herramientas del proyecto. </a:t>
            </a:r>
            <a:endParaRPr lang="en-US" sz="2000">
              <a:ea typeface="+mn-lt"/>
              <a:cs typeface="+mn-lt"/>
            </a:endParaRPr>
          </a:p>
          <a:p>
            <a:pPr algn="just"/>
            <a:r>
              <a:rPr lang="es-PE" sz="2000">
                <a:ea typeface="+mn-lt"/>
                <a:cs typeface="+mn-lt"/>
              </a:rPr>
              <a:t>Se potencia una metodología de trabajo ordenada, basada en compartir y en el trabajo en equipo. </a:t>
            </a:r>
            <a:endParaRPr lang="en-US" sz="2000">
              <a:ea typeface="+mn-lt"/>
              <a:cs typeface="+mn-lt"/>
            </a:endParaRPr>
          </a:p>
          <a:p>
            <a:pPr algn="just"/>
            <a:r>
              <a:rPr lang="es-PE" sz="2000">
                <a:ea typeface="+mn-lt"/>
                <a:cs typeface="+mn-lt"/>
              </a:rPr>
              <a:t>Se facilita el trabajo en remoto. </a:t>
            </a:r>
            <a:endParaRPr lang="en-US" sz="2000">
              <a:ea typeface="+mn-lt"/>
              <a:cs typeface="+mn-lt"/>
            </a:endParaRPr>
          </a:p>
          <a:p>
            <a:pPr algn="just"/>
            <a:r>
              <a:rPr lang="es-PE" sz="2000">
                <a:ea typeface="+mn-lt"/>
                <a:cs typeface="+mn-lt"/>
              </a:rPr>
              <a:t>Se reduce el uso del correo electrónico; evitando que sea el medio para el intercambio de los documentos y permitiendo que todos estén informados de todo.</a:t>
            </a:r>
            <a:endParaRPr lang="en-US" sz="2000">
              <a:ea typeface="+mn-lt"/>
              <a:cs typeface="+mn-lt"/>
            </a:endParaRPr>
          </a:p>
        </p:txBody>
      </p:sp>
    </p:spTree>
    <p:extLst>
      <p:ext uri="{BB962C8B-B14F-4D97-AF65-F5344CB8AC3E}">
        <p14:creationId xmlns:p14="http://schemas.microsoft.com/office/powerpoint/2010/main" val="798707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40798" y="449803"/>
            <a:ext cx="9140045" cy="526749"/>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140">
              <a:spcBef>
                <a:spcPts val="268"/>
              </a:spcBef>
            </a:pPr>
            <a:r>
              <a:rPr lang="es-MX" sz="3200" spc="30">
                <a:solidFill>
                  <a:schemeClr val="bg1"/>
                </a:solidFill>
                <a:ea typeface="+mj-lt"/>
                <a:cs typeface="+mj-lt"/>
              </a:rPr>
              <a:t>Entorno Inclusivo</a:t>
            </a:r>
            <a:endParaRPr lang="en-US">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43132" y="1116839"/>
            <a:ext cx="8899584" cy="4580506"/>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800">
                <a:ea typeface="+mn-lt"/>
                <a:cs typeface="+mn-lt"/>
              </a:rPr>
              <a:t>Todo el mundo tiene fortalezas y habilidades únicas para contribuir en el lugar de trabajo. Debe haber un esfuerzo por crear un</a:t>
            </a:r>
            <a:r>
              <a:rPr lang="es-PE" sz="2800" b="1">
                <a:ea typeface="+mn-lt"/>
                <a:cs typeface="+mn-lt"/>
              </a:rPr>
              <a:t> entorno inclusivo, accesible e inspirador</a:t>
            </a:r>
            <a:r>
              <a:rPr lang="es-PE" sz="2800">
                <a:ea typeface="+mn-lt"/>
                <a:cs typeface="+mn-lt"/>
              </a:rPr>
              <a:t>.</a:t>
            </a:r>
          </a:p>
          <a:p>
            <a:pPr algn="just"/>
            <a:r>
              <a:rPr lang="es-PE" sz="2800">
                <a:ea typeface="+mn-lt"/>
                <a:cs typeface="+mn-lt"/>
              </a:rPr>
              <a:t>A través de proyectos basados en entornos inclusivos, se proporciona accesibilidad a los miembros del equipo eliminando las barreras físicas, sociales, culturales y sistémicas, para garantizar que </a:t>
            </a:r>
            <a:r>
              <a:rPr lang="es-PE" sz="2800" b="1">
                <a:ea typeface="+mn-lt"/>
                <a:cs typeface="+mn-lt"/>
              </a:rPr>
              <a:t>las personas con discapacidad tengan las mismas condiciones y oportunidades de trabajo</a:t>
            </a:r>
            <a:r>
              <a:rPr lang="es-PE" sz="2800">
                <a:ea typeface="+mn-lt"/>
                <a:cs typeface="+mn-lt"/>
              </a:rPr>
              <a:t> que las que no tienen.</a:t>
            </a:r>
            <a:endParaRPr lang="es-PE" sz="2800"/>
          </a:p>
          <a:p>
            <a:pPr algn="just"/>
            <a:endParaRPr lang="es-PE"/>
          </a:p>
        </p:txBody>
      </p:sp>
    </p:spTree>
    <p:extLst>
      <p:ext uri="{BB962C8B-B14F-4D97-AF65-F5344CB8AC3E}">
        <p14:creationId xmlns:p14="http://schemas.microsoft.com/office/powerpoint/2010/main" val="278854739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40798" y="449803"/>
            <a:ext cx="9140045" cy="526749"/>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140">
              <a:spcBef>
                <a:spcPts val="268"/>
              </a:spcBef>
            </a:pPr>
            <a:r>
              <a:rPr lang="es-MX" sz="3200" spc="30">
                <a:solidFill>
                  <a:schemeClr val="bg1"/>
                </a:solidFill>
                <a:ea typeface="+mj-lt"/>
                <a:cs typeface="+mj-lt"/>
              </a:rPr>
              <a:t>Entorno Inclusivo</a:t>
            </a:r>
            <a:endParaRPr lang="en-US">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43132" y="1116839"/>
            <a:ext cx="8899584" cy="6008589"/>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400">
                <a:ea typeface="+mn-lt"/>
                <a:cs typeface="+mn-lt"/>
              </a:rPr>
              <a:t>Algunos ejemplos de soluciones tecnológicas de asistencia en fábricas:</a:t>
            </a:r>
            <a:endParaRPr lang="es-PE" sz="2400"/>
          </a:p>
          <a:p>
            <a:pPr lvl="1" algn="just"/>
            <a:r>
              <a:rPr lang="es-PE" sz="1600" b="1">
                <a:ea typeface="+mn-lt"/>
                <a:cs typeface="+mn-lt"/>
              </a:rPr>
              <a:t>STEVE</a:t>
            </a:r>
            <a:r>
              <a:rPr lang="es-PE" sz="1600">
                <a:ea typeface="+mn-lt"/>
                <a:cs typeface="+mn-lt"/>
              </a:rPr>
              <a:t> es un exoesqueleto que funciona como una silla de ruedas motorizada, capaz de conducir a los usuarios con discapacidades en las extremidades inferiores hasta su puesto de trabajo en una cadena de montaje. Una vez colocado, STEVE (el nombre de la máquina) levanta y mantiene al usuario en posición vertical en una posición segura y cómoda.</a:t>
            </a:r>
            <a:endParaRPr lang="es-PE" sz="1600"/>
          </a:p>
          <a:p>
            <a:pPr lvl="1" algn="just"/>
            <a:r>
              <a:rPr lang="es-PE" sz="1600" b="1">
                <a:ea typeface="+mn-lt"/>
                <a:cs typeface="+mn-lt"/>
              </a:rPr>
              <a:t>Augmented Reality Training Arcade</a:t>
            </a:r>
            <a:r>
              <a:rPr lang="es-PE" sz="1600">
                <a:ea typeface="+mn-lt"/>
                <a:cs typeface="+mn-lt"/>
              </a:rPr>
              <a:t> es una plataforma de formación en realidad aumentada (AR) para miembros de equipos con pérdida auditiva. Su principal aplicación se proyecta a través de unas gafas de AR, ayudando al montaje de hardware de forma gamificada, y enseñando a los miembros de nuestro equipo a construir dispositivos completos.</a:t>
            </a:r>
            <a:endParaRPr lang="es-PE" sz="1600"/>
          </a:p>
          <a:p>
            <a:pPr lvl="1" algn="just"/>
            <a:r>
              <a:rPr lang="es-PE" sz="1600" b="1">
                <a:ea typeface="+mn-lt"/>
                <a:cs typeface="+mn-lt"/>
              </a:rPr>
              <a:t>Mobile Aware Intermodal Assistan</a:t>
            </a:r>
            <a:r>
              <a:rPr lang="es-PE" sz="1600">
                <a:ea typeface="+mn-lt"/>
                <a:cs typeface="+mn-lt"/>
              </a:rPr>
              <a:t>t es una aplicación de pruebas de audio utilizada por los miembros del equipo con pérdida auditiva. Convierte los sonidos en imágenes, transformando los sonidos de las pruebas de los altavoces de los ordenadores portátiles en estímulos visuales que se muestran en una pantalla.</a:t>
            </a:r>
            <a:endParaRPr lang="es-PE" sz="1600"/>
          </a:p>
          <a:p>
            <a:pPr algn="just"/>
            <a:r>
              <a:rPr lang="es-PE" sz="2400">
                <a:ea typeface="+mn-lt"/>
                <a:cs typeface="+mn-lt"/>
              </a:rPr>
              <a:t>Además de estas tecnologías, se debe mejorar la accesibilidad a los centros de trabajo mediante la implantación de cursos de formación y</a:t>
            </a:r>
            <a:r>
              <a:rPr lang="es-PE" sz="2400" b="1">
                <a:ea typeface="+mn-lt"/>
                <a:cs typeface="+mn-lt"/>
              </a:rPr>
              <a:t> lenguaje de signos</a:t>
            </a:r>
            <a:r>
              <a:rPr lang="es-PE" sz="2400">
                <a:ea typeface="+mn-lt"/>
                <a:cs typeface="+mn-lt"/>
              </a:rPr>
              <a:t> orientados a la inclusión, y/o añadir braille en toda la señalización.</a:t>
            </a:r>
            <a:endParaRPr lang="es-PE" sz="2400"/>
          </a:p>
          <a:p>
            <a:pPr algn="just"/>
            <a:endParaRPr lang="es-PE"/>
          </a:p>
        </p:txBody>
      </p:sp>
    </p:spTree>
    <p:extLst>
      <p:ext uri="{BB962C8B-B14F-4D97-AF65-F5344CB8AC3E}">
        <p14:creationId xmlns:p14="http://schemas.microsoft.com/office/powerpoint/2010/main" val="30789946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26AA959B-E09F-4DCA-9877-0EE2A49709C6}"/>
              </a:ext>
            </a:extLst>
          </p:cNvPr>
          <p:cNvSpPr txBox="1">
            <a:spLocks/>
          </p:cNvSpPr>
          <p:nvPr/>
        </p:nvSpPr>
        <p:spPr>
          <a:xfrm>
            <a:off x="40798" y="449803"/>
            <a:ext cx="9140045" cy="526749"/>
          </a:xfrm>
          <a:prstGeom prst="rect">
            <a:avLst/>
          </a:prstGeom>
        </p:spPr>
        <p:txBody>
          <a:bodyPr vert="horz" wrap="square" lIns="0" tIns="33975" rIns="0" bIns="0" numCol="1" rtlCol="0" anchor="ctr" anchorCtr="0" compatLnSpc="1">
            <a:prstTxWarp prst="textNoShape">
              <a:avLst/>
            </a:prstTxWarp>
            <a:spAutoFit/>
          </a:bodyPr>
          <a:lst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a:lstStyle>
          <a:p>
            <a:pPr marL="104140">
              <a:spcBef>
                <a:spcPts val="268"/>
              </a:spcBef>
            </a:pPr>
            <a:r>
              <a:rPr lang="es-MX" sz="3200" spc="30">
                <a:solidFill>
                  <a:schemeClr val="bg1"/>
                </a:solidFill>
                <a:ea typeface="+mj-lt"/>
                <a:cs typeface="+mj-lt"/>
              </a:rPr>
              <a:t>Entorno Inclusivo</a:t>
            </a:r>
            <a:endParaRPr lang="en-US">
              <a:solidFill>
                <a:schemeClr val="bg1"/>
              </a:solidFill>
            </a:endParaRPr>
          </a:p>
        </p:txBody>
      </p:sp>
      <p:sp>
        <p:nvSpPr>
          <p:cNvPr id="3" name="object 8">
            <a:extLst>
              <a:ext uri="{FF2B5EF4-FFF2-40B4-BE49-F238E27FC236}">
                <a16:creationId xmlns:a16="http://schemas.microsoft.com/office/drawing/2014/main" id="{B97376EB-D81C-4EAD-ADE9-4EEE3D7765AB}"/>
              </a:ext>
            </a:extLst>
          </p:cNvPr>
          <p:cNvSpPr txBox="1">
            <a:spLocks/>
          </p:cNvSpPr>
          <p:nvPr/>
        </p:nvSpPr>
        <p:spPr>
          <a:xfrm>
            <a:off x="43132" y="1116839"/>
            <a:ext cx="8899584" cy="5491525"/>
          </a:xfrm>
          <a:prstGeom prst="rect">
            <a:avLst/>
          </a:prstGeom>
        </p:spPr>
        <p:txBody>
          <a:bodyPr vert="horz" wrap="square" lIns="0" tIns="25167" rIns="0" bIns="0" numCol="1" rtlCol="0" anchor="t" anchorCtr="0" compatLnSpc="1">
            <a:prstTxWarp prst="textNoShape">
              <a:avLst/>
            </a:prstTxWarp>
            <a:spAutoFit/>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s-PE" sz="2400">
                <a:ea typeface="+mn-lt"/>
                <a:cs typeface="+mn-lt"/>
              </a:rPr>
              <a:t>La creación de soluciones laborales viables para los miembros del equipo con discapacidades es un excelente ejemplo de cómo estamos utilizando la </a:t>
            </a:r>
            <a:r>
              <a:rPr lang="es-PE" sz="2400" b="1">
                <a:ea typeface="+mn-lt"/>
                <a:cs typeface="+mn-lt"/>
              </a:rPr>
              <a:t>tecnología para impulsar el progreso humano</a:t>
            </a:r>
            <a:r>
              <a:rPr lang="es-PE" sz="2400">
                <a:ea typeface="+mn-lt"/>
                <a:cs typeface="+mn-lt"/>
              </a:rPr>
              <a:t>. </a:t>
            </a:r>
            <a:endParaRPr lang="es-PE" sz="2400">
              <a:cs typeface="+mn-lt"/>
            </a:endParaRPr>
          </a:p>
          <a:p>
            <a:pPr algn="just"/>
            <a:r>
              <a:rPr lang="es-PE" sz="2400">
                <a:ea typeface="+mn-lt"/>
                <a:cs typeface="+mn-lt"/>
              </a:rPr>
              <a:t>Existen centros de Investigación, desarrollo e innovación para crear e implementar soluciones de asistencia para personas con discapacidades. </a:t>
            </a:r>
            <a:endParaRPr lang="es-PE" sz="2400">
              <a:cs typeface="+mn-lt"/>
            </a:endParaRPr>
          </a:p>
          <a:p>
            <a:pPr algn="just"/>
            <a:r>
              <a:rPr lang="es-PE" sz="2400">
                <a:ea typeface="+mn-lt"/>
                <a:cs typeface="+mn-lt"/>
              </a:rPr>
              <a:t>Estos tienen equipos formados por profesionales multidisciplinares que valoran la diversidad y la inclusión y trabajan en la investigación y el desarrollo de soluciones en diversos campos. </a:t>
            </a:r>
            <a:endParaRPr lang="es-PE" sz="2400">
              <a:cs typeface="+mn-lt"/>
            </a:endParaRPr>
          </a:p>
          <a:p>
            <a:pPr algn="just"/>
            <a:r>
              <a:rPr lang="es-PE" sz="2400">
                <a:ea typeface="+mn-lt"/>
                <a:cs typeface="+mn-lt"/>
              </a:rPr>
              <a:t>La investigación y el desarrollo de soluciones tecnológicas con el objetivo de contribuir al crecimiento de la sociedad y se alinea con el propósito de promover el potencial de las personas a través de la tecnología.</a:t>
            </a:r>
            <a:endParaRPr lang="es-PE" sz="2400"/>
          </a:p>
          <a:p>
            <a:pPr algn="just"/>
            <a:endParaRPr lang="es-PE" sz="2400" dirty="0">
              <a:ea typeface="+mn-lt"/>
              <a:cs typeface="+mn-lt"/>
            </a:endParaRPr>
          </a:p>
        </p:txBody>
      </p:sp>
    </p:spTree>
    <p:extLst>
      <p:ext uri="{BB962C8B-B14F-4D97-AF65-F5344CB8AC3E}">
        <p14:creationId xmlns:p14="http://schemas.microsoft.com/office/powerpoint/2010/main" val="28235347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0733081-77EE-4F8C-ABBC-DB0CCF3C8B5B}"/>
              </a:ext>
            </a:extLst>
          </p:cNvPr>
          <p:cNvSpPr/>
          <p:nvPr/>
        </p:nvSpPr>
        <p:spPr>
          <a:xfrm>
            <a:off x="598714" y="2460285"/>
            <a:ext cx="7946571" cy="3046988"/>
          </a:xfrm>
          <a:prstGeom prst="rect">
            <a:avLst/>
          </a:prstGeom>
        </p:spPr>
        <p:txBody>
          <a:bodyPr wrap="square">
            <a:spAutoFit/>
          </a:bodyPr>
          <a:lstStyle/>
          <a:p>
            <a:pPr marL="514350" indent="-514350" algn="just">
              <a:buFont typeface="Wingdings" panose="05000000000000000000" pitchFamily="2" charset="2"/>
              <a:buChar char="Ø"/>
            </a:pPr>
            <a:r>
              <a:rPr lang="es-PE" sz="3200" dirty="0"/>
              <a:t>Trabajar en equipo es una oportunidad de aprendizaje. </a:t>
            </a:r>
          </a:p>
          <a:p>
            <a:pPr marL="514350" indent="-514350" algn="just">
              <a:buFont typeface="Wingdings" panose="05000000000000000000" pitchFamily="2" charset="2"/>
              <a:buChar char="Ø"/>
            </a:pPr>
            <a:r>
              <a:rPr lang="es-PE" sz="3200" dirty="0"/>
              <a:t>Las personas con éxito saben trabajar en equipo. </a:t>
            </a:r>
          </a:p>
          <a:p>
            <a:pPr marL="514350" indent="-514350" algn="just">
              <a:buFont typeface="Wingdings" panose="05000000000000000000" pitchFamily="2" charset="2"/>
              <a:buChar char="Ø"/>
            </a:pPr>
            <a:r>
              <a:rPr lang="es-PE" sz="3200" dirty="0"/>
              <a:t>Trabajar en equipo facilita el desarrollo y ejecución de las tareas.</a:t>
            </a:r>
            <a:endParaRPr lang="es-MX" dirty="0">
              <a:latin typeface="Georgia" panose="02040502050405020303" pitchFamily="18" charset="0"/>
            </a:endParaRPr>
          </a:p>
        </p:txBody>
      </p:sp>
      <p:sp>
        <p:nvSpPr>
          <p:cNvPr id="4" name="Rectángulo 3">
            <a:extLst>
              <a:ext uri="{FF2B5EF4-FFF2-40B4-BE49-F238E27FC236}">
                <a16:creationId xmlns:a16="http://schemas.microsoft.com/office/drawing/2014/main" id="{4A66D93B-F396-4196-9C12-7E42220C6217}"/>
              </a:ext>
            </a:extLst>
          </p:cNvPr>
          <p:cNvSpPr/>
          <p:nvPr/>
        </p:nvSpPr>
        <p:spPr>
          <a:xfrm>
            <a:off x="478972" y="234597"/>
            <a:ext cx="7750627" cy="526749"/>
          </a:xfrm>
          <a:prstGeom prst="rect">
            <a:avLst/>
          </a:prstGeom>
        </p:spPr>
        <p:txBody>
          <a:bodyPr vert="horz" wrap="square" lIns="0" tIns="33975" rIns="0" bIns="0" numCol="1" rtlCol="0" anchor="ctr" anchorCtr="0" compatLnSpc="1">
            <a:prstTxWarp prst="textNoShape">
              <a:avLst/>
            </a:prstTxWarp>
            <a:spAutoFit/>
          </a:bodyPr>
          <a:lstStyle/>
          <a:p>
            <a:pPr marL="25168" algn="ctr">
              <a:spcBef>
                <a:spcPts val="268"/>
              </a:spcBef>
            </a:pPr>
            <a:r>
              <a:rPr lang="es-MX" sz="3200" spc="30" dirty="0">
                <a:solidFill>
                  <a:schemeClr val="bg1"/>
                </a:solidFill>
                <a:latin typeface="+mj-lt"/>
              </a:rPr>
              <a:t>Conclusión</a:t>
            </a:r>
          </a:p>
        </p:txBody>
      </p:sp>
    </p:spTree>
    <p:extLst>
      <p:ext uri="{BB962C8B-B14F-4D97-AF65-F5344CB8AC3E}">
        <p14:creationId xmlns:p14="http://schemas.microsoft.com/office/powerpoint/2010/main" val="16763872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2217</TotalTime>
  <Words>1728</Words>
  <Application>Microsoft Office PowerPoint</Application>
  <PresentationFormat>Presentación en pantalla (4:3)</PresentationFormat>
  <Paragraphs>118</Paragraphs>
  <Slides>21</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21</vt:i4>
      </vt:variant>
    </vt:vector>
  </HeadingPairs>
  <TitlesOfParts>
    <vt:vector size="27" baseType="lpstr">
      <vt:lpstr>Arial</vt:lpstr>
      <vt:lpstr>Calibri</vt:lpstr>
      <vt:lpstr>Georgia</vt:lpstr>
      <vt:lpstr>Solano Gothic MVB Std Cap</vt:lpstr>
      <vt:lpstr>Wingdings</vt:lpstr>
      <vt:lpstr>Tema de Office</vt:lpstr>
      <vt:lpstr>Alineamiento del student outcome 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dc:title>
  <dc:creator>Analu</dc:creator>
  <cp:lastModifiedBy>Jimmy A. Armas Aguirre</cp:lastModifiedBy>
  <cp:revision>172</cp:revision>
  <dcterms:created xsi:type="dcterms:W3CDTF">2013-09-03T17:21:04Z</dcterms:created>
  <dcterms:modified xsi:type="dcterms:W3CDTF">2023-03-03T00:33:08Z</dcterms:modified>
</cp:coreProperties>
</file>