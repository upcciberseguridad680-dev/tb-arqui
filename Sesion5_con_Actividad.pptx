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BAF9B-BC0C-4699-B123-880B7A1D4BB6}" v="4" dt="2026-04-28T18:49:07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arate" userId="6ce5b0a8a87044cc" providerId="LiveId" clId="{3FC3F052-3F8F-42D3-B8EA-956065AA0F0F}"/>
    <pc:docChg chg="undo custSel delSld modSld">
      <pc:chgData name="Diego Garate" userId="6ce5b0a8a87044cc" providerId="LiveId" clId="{3FC3F052-3F8F-42D3-B8EA-956065AA0F0F}" dt="2026-04-28T18:50:09.194" v="158" actId="1076"/>
      <pc:docMkLst>
        <pc:docMk/>
      </pc:docMkLst>
      <pc:sldChg chg="modSp mod">
        <pc:chgData name="Diego Garate" userId="6ce5b0a8a87044cc" providerId="LiveId" clId="{3FC3F052-3F8F-42D3-B8EA-956065AA0F0F}" dt="2026-04-20T21:05:35.260" v="2" actId="1076"/>
        <pc:sldMkLst>
          <pc:docMk/>
          <pc:sldMk cId="0" sldId="256"/>
        </pc:sldMkLst>
        <pc:spChg chg="mod">
          <ac:chgData name="Diego Garate" userId="6ce5b0a8a87044cc" providerId="LiveId" clId="{3FC3F052-3F8F-42D3-B8EA-956065AA0F0F}" dt="2026-04-20T21:05:35.260" v="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4-20T21:05:30.915" v="1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20T21:05:52.326" v="3" actId="1076"/>
        <pc:sldMkLst>
          <pc:docMk/>
          <pc:sldMk cId="0" sldId="258"/>
        </pc:sldMkLst>
        <pc:spChg chg="mod">
          <ac:chgData name="Diego Garate" userId="6ce5b0a8a87044cc" providerId="LiveId" clId="{3FC3F052-3F8F-42D3-B8EA-956065AA0F0F}" dt="2026-04-20T21:05:52.326" v="3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20T21:06:21.947" v="4" actId="1076"/>
        <pc:sldMkLst>
          <pc:docMk/>
          <pc:sldMk cId="0" sldId="259"/>
        </pc:sldMkLst>
        <pc:spChg chg="mod">
          <ac:chgData name="Diego Garate" userId="6ce5b0a8a87044cc" providerId="LiveId" clId="{3FC3F052-3F8F-42D3-B8EA-956065AA0F0F}" dt="2026-04-20T21:06:21.947" v="4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28T18:28:22.862" v="23" actId="20577"/>
        <pc:sldMkLst>
          <pc:docMk/>
          <pc:sldMk cId="0" sldId="260"/>
        </pc:sldMkLst>
        <pc:spChg chg="mod">
          <ac:chgData name="Diego Garate" userId="6ce5b0a8a87044cc" providerId="LiveId" clId="{3FC3F052-3F8F-42D3-B8EA-956065AA0F0F}" dt="2026-04-20T21:06:31.661" v="5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28T18:28:22.862" v="23" actId="20577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20T21:07:27.540" v="8" actId="1076"/>
        <pc:sldMkLst>
          <pc:docMk/>
          <pc:sldMk cId="0" sldId="262"/>
        </pc:sldMkLst>
        <pc:spChg chg="mod">
          <ac:chgData name="Diego Garate" userId="6ce5b0a8a87044cc" providerId="LiveId" clId="{3FC3F052-3F8F-42D3-B8EA-956065AA0F0F}" dt="2026-04-20T21:07:27.540" v="8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Diego Garate" userId="6ce5b0a8a87044cc" providerId="LiveId" clId="{3FC3F052-3F8F-42D3-B8EA-956065AA0F0F}" dt="2026-04-20T21:08:07.687" v="10" actId="1367"/>
        <pc:sldMkLst>
          <pc:docMk/>
          <pc:sldMk cId="0" sldId="263"/>
        </pc:sldMkLst>
        <pc:picChg chg="mod">
          <ac:chgData name="Diego Garate" userId="6ce5b0a8a87044cc" providerId="LiveId" clId="{3FC3F052-3F8F-42D3-B8EA-956065AA0F0F}" dt="2026-04-20T21:08:07.687" v="10" actId="1367"/>
          <ac:picMkLst>
            <pc:docMk/>
            <pc:sldMk cId="0" sldId="263"/>
            <ac:picMk id="5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4-20T21:11:02.380" v="18" actId="6549"/>
        <pc:sldMkLst>
          <pc:docMk/>
          <pc:sldMk cId="0" sldId="265"/>
        </pc:sldMkLst>
        <pc:spChg chg="mod">
          <ac:chgData name="Diego Garate" userId="6ce5b0a8a87044cc" providerId="LiveId" clId="{3FC3F052-3F8F-42D3-B8EA-956065AA0F0F}" dt="2026-04-20T21:10:18.542" v="14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20T21:11:02.380" v="18" actId="6549"/>
          <ac:spMkLst>
            <pc:docMk/>
            <pc:sldMk cId="0" sldId="265"/>
            <ac:spMk id="27" creationId="{00000000-0000-0000-0000-000000000000}"/>
          </ac:spMkLst>
        </pc:spChg>
      </pc:sldChg>
      <pc:sldChg chg="delSp modSp mod">
        <pc:chgData name="Diego Garate" userId="6ce5b0a8a87044cc" providerId="LiveId" clId="{3FC3F052-3F8F-42D3-B8EA-956065AA0F0F}" dt="2026-04-27T14:56:00.467" v="21" actId="1076"/>
        <pc:sldMkLst>
          <pc:docMk/>
          <pc:sldMk cId="0" sldId="266"/>
        </pc:sldMkLst>
        <pc:spChg chg="del">
          <ac:chgData name="Diego Garate" userId="6ce5b0a8a87044cc" providerId="LiveId" clId="{3FC3F052-3F8F-42D3-B8EA-956065AA0F0F}" dt="2026-04-27T14:55:52.737" v="19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Diego Garate" userId="6ce5b0a8a87044cc" providerId="LiveId" clId="{3FC3F052-3F8F-42D3-B8EA-956065AA0F0F}" dt="2026-04-27T14:56:00.467" v="21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iego Garate" userId="6ce5b0a8a87044cc" providerId="LiveId" clId="{3FC3F052-3F8F-42D3-B8EA-956065AA0F0F}" dt="2026-04-27T14:56:00.467" v="21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4-27T14:56:00.467" v="21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4-27T14:56:00.467" v="21" actId="1076"/>
          <ac:spMkLst>
            <pc:docMk/>
            <pc:sldMk cId="0" sldId="266"/>
            <ac:spMk id="14" creationId="{00000000-0000-0000-0000-000000000000}"/>
          </ac:spMkLst>
        </pc:spChg>
        <pc:picChg chg="del">
          <ac:chgData name="Diego Garate" userId="6ce5b0a8a87044cc" providerId="LiveId" clId="{3FC3F052-3F8F-42D3-B8EA-956065AA0F0F}" dt="2026-04-27T14:55:53.611" v="20" actId="478"/>
          <ac:picMkLst>
            <pc:docMk/>
            <pc:sldMk cId="0" sldId="266"/>
            <ac:picMk id="7" creationId="{00000000-0000-0000-0000-000000000000}"/>
          </ac:picMkLst>
        </pc:picChg>
        <pc:picChg chg="mod">
          <ac:chgData name="Diego Garate" userId="6ce5b0a8a87044cc" providerId="LiveId" clId="{3FC3F052-3F8F-42D3-B8EA-956065AA0F0F}" dt="2026-04-27T14:56:00.467" v="21" actId="1076"/>
          <ac:picMkLst>
            <pc:docMk/>
            <pc:sldMk cId="0" sldId="266"/>
            <ac:picMk id="9" creationId="{00000000-0000-0000-0000-000000000000}"/>
          </ac:picMkLst>
        </pc:picChg>
        <pc:picChg chg="mod">
          <ac:chgData name="Diego Garate" userId="6ce5b0a8a87044cc" providerId="LiveId" clId="{3FC3F052-3F8F-42D3-B8EA-956065AA0F0F}" dt="2026-04-27T14:56:00.467" v="21" actId="1076"/>
          <ac:picMkLst>
            <pc:docMk/>
            <pc:sldMk cId="0" sldId="266"/>
            <ac:picMk id="11" creationId="{00000000-0000-0000-0000-000000000000}"/>
          </ac:picMkLst>
        </pc:picChg>
      </pc:sldChg>
      <pc:sldChg chg="addSp delSp modSp mod">
        <pc:chgData name="Diego Garate" userId="6ce5b0a8a87044cc" providerId="LiveId" clId="{3FC3F052-3F8F-42D3-B8EA-956065AA0F0F}" dt="2026-04-28T18:50:09.194" v="158" actId="1076"/>
        <pc:sldMkLst>
          <pc:docMk/>
          <pc:sldMk cId="0" sldId="269"/>
        </pc:sldMkLst>
        <pc:spChg chg="add del mod">
          <ac:chgData name="Diego Garate" userId="6ce5b0a8a87044cc" providerId="LiveId" clId="{3FC3F052-3F8F-42D3-B8EA-956065AA0F0F}" dt="2026-04-28T18:46:52.377" v="109" actId="478"/>
          <ac:spMkLst>
            <pc:docMk/>
            <pc:sldMk cId="0" sldId="269"/>
            <ac:spMk id="17" creationId="{8BD744D5-8DF1-E870-9FF4-B9646F033A90}"/>
          </ac:spMkLst>
        </pc:spChg>
        <pc:spChg chg="add del mod">
          <ac:chgData name="Diego Garate" userId="6ce5b0a8a87044cc" providerId="LiveId" clId="{3FC3F052-3F8F-42D3-B8EA-956065AA0F0F}" dt="2026-04-28T18:46:58.595" v="112" actId="478"/>
          <ac:spMkLst>
            <pc:docMk/>
            <pc:sldMk cId="0" sldId="269"/>
            <ac:spMk id="19" creationId="{EC9C753D-D99D-5D66-05B6-E15DF9A7657E}"/>
          </ac:spMkLst>
        </pc:spChg>
        <pc:spChg chg="mod">
          <ac:chgData name="Diego Garate" userId="6ce5b0a8a87044cc" providerId="LiveId" clId="{3FC3F052-3F8F-42D3-B8EA-956065AA0F0F}" dt="2026-04-28T18:44:46.240" v="71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Diego Garate" userId="6ce5b0a8a87044cc" providerId="LiveId" clId="{3FC3F052-3F8F-42D3-B8EA-956065AA0F0F}" dt="2026-04-28T18:44:52.338" v="83" actId="6549"/>
          <ac:spMkLst>
            <pc:docMk/>
            <pc:sldMk cId="0" sldId="269"/>
            <ac:spMk id="21" creationId="{00000000-0000-0000-0000-000000000000}"/>
          </ac:spMkLst>
        </pc:spChg>
        <pc:spChg chg="mod">
          <ac:chgData name="Diego Garate" userId="6ce5b0a8a87044cc" providerId="LiveId" clId="{3FC3F052-3F8F-42D3-B8EA-956065AA0F0F}" dt="2026-04-28T18:44:53.937" v="84" actId="6549"/>
          <ac:spMkLst>
            <pc:docMk/>
            <pc:sldMk cId="0" sldId="269"/>
            <ac:spMk id="22" creationId="{00000000-0000-0000-0000-000000000000}"/>
          </ac:spMkLst>
        </pc:spChg>
        <pc:spChg chg="mod">
          <ac:chgData name="Diego Garate" userId="6ce5b0a8a87044cc" providerId="LiveId" clId="{3FC3F052-3F8F-42D3-B8EA-956065AA0F0F}" dt="2026-04-28T18:44:54.954" v="85" actId="6549"/>
          <ac:spMkLst>
            <pc:docMk/>
            <pc:sldMk cId="0" sldId="269"/>
            <ac:spMk id="23" creationId="{00000000-0000-0000-0000-000000000000}"/>
          </ac:spMkLst>
        </pc:spChg>
        <pc:spChg chg="add mod">
          <ac:chgData name="Diego Garate" userId="6ce5b0a8a87044cc" providerId="LiveId" clId="{3FC3F052-3F8F-42D3-B8EA-956065AA0F0F}" dt="2026-04-28T18:49:53.046" v="154" actId="1076"/>
          <ac:spMkLst>
            <pc:docMk/>
            <pc:sldMk cId="0" sldId="269"/>
            <ac:spMk id="24" creationId="{A3DF23A1-1390-D878-0864-A0295738C493}"/>
          </ac:spMkLst>
        </pc:spChg>
        <pc:spChg chg="mod">
          <ac:chgData name="Diego Garate" userId="6ce5b0a8a87044cc" providerId="LiveId" clId="{3FC3F052-3F8F-42D3-B8EA-956065AA0F0F}" dt="2026-04-28T18:49:49.978" v="153" actId="14100"/>
          <ac:spMkLst>
            <pc:docMk/>
            <pc:sldMk cId="0" sldId="269"/>
            <ac:spMk id="41" creationId="{00000000-0000-0000-0000-000000000000}"/>
          </ac:spMkLst>
        </pc:spChg>
        <pc:spChg chg="mod">
          <ac:chgData name="Diego Garate" userId="6ce5b0a8a87044cc" providerId="LiveId" clId="{3FC3F052-3F8F-42D3-B8EA-956065AA0F0F}" dt="2026-04-28T18:50:04.502" v="157" actId="14100"/>
          <ac:spMkLst>
            <pc:docMk/>
            <pc:sldMk cId="0" sldId="269"/>
            <ac:spMk id="42" creationId="{00000000-0000-0000-0000-000000000000}"/>
          </ac:spMkLst>
        </pc:spChg>
        <pc:spChg chg="mod">
          <ac:chgData name="Diego Garate" userId="6ce5b0a8a87044cc" providerId="LiveId" clId="{3FC3F052-3F8F-42D3-B8EA-956065AA0F0F}" dt="2026-04-28T18:50:09.194" v="158" actId="1076"/>
          <ac:spMkLst>
            <pc:docMk/>
            <pc:sldMk cId="0" sldId="269"/>
            <ac:spMk id="43" creationId="{00000000-0000-0000-0000-000000000000}"/>
          </ac:spMkLst>
        </pc:spChg>
        <pc:picChg chg="add mod">
          <ac:chgData name="Diego Garate" userId="6ce5b0a8a87044cc" providerId="LiveId" clId="{3FC3F052-3F8F-42D3-B8EA-956065AA0F0F}" dt="2026-04-28T18:47:03.294" v="113" actId="1076"/>
          <ac:picMkLst>
            <pc:docMk/>
            <pc:sldMk cId="0" sldId="269"/>
            <ac:picMk id="1026" creationId="{73B8D48E-E3A0-640E-6FCF-E8411D675AE3}"/>
          </ac:picMkLst>
        </pc:picChg>
        <pc:cxnChg chg="add del mod">
          <ac:chgData name="Diego Garate" userId="6ce5b0a8a87044cc" providerId="LiveId" clId="{3FC3F052-3F8F-42D3-B8EA-956065AA0F0F}" dt="2026-04-28T18:46:52.377" v="109" actId="478"/>
          <ac:cxnSpMkLst>
            <pc:docMk/>
            <pc:sldMk cId="0" sldId="269"/>
            <ac:cxnSpMk id="12" creationId="{CA2396D8-C85C-DDC9-8F06-520407BEC9E0}"/>
          </ac:cxnSpMkLst>
        </pc:cxnChg>
        <pc:cxnChg chg="add del">
          <ac:chgData name="Diego Garate" userId="6ce5b0a8a87044cc" providerId="LiveId" clId="{3FC3F052-3F8F-42D3-B8EA-956065AA0F0F}" dt="2026-04-28T18:46:57.361" v="111" actId="478"/>
          <ac:cxnSpMkLst>
            <pc:docMk/>
            <pc:sldMk cId="0" sldId="269"/>
            <ac:cxnSpMk id="14" creationId="{18B98120-DE7D-F927-E018-29AC5042353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87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9003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DERIVACIÓN DE REQUISITOS DE SEGURIDAD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94680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4: Desarrollo de Software Seguro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819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relación entre riesgos del negocio y requisitos de seguridad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13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286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activos críticos y sus amenazas asociadas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449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017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requisitos de seguridad verificables desde el contexto del negocio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2"/>
          <p:cNvSpPr/>
          <p:nvPr/>
        </p:nvSpPr>
        <p:spPr>
          <a:xfrm>
            <a:off x="731520" y="365760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764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49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requisitos como entrada para testing y validación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Funcionales vs Requisitos de Seguridad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2014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914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hacer el sistema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 puede transferir dinero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genera reportes mensuales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permite crear usuarios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914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Seguridad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proteger lo que hace el sistema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usuarios autenticados pueden transferir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Reportes solo accesibles por roles autorizados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valida entrada y limita tasa de peticiones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Triada: Activos, Amenazas y Riesgos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00593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proteger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clientes | Propiedad intelectual | Disponibilidad del servicio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28016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datos | Modificación no autorizada | Denegación de servicio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73152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28016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x Probabilidad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8328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financiera | Daño reputacional | Incumplimiento regulatorio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Dependen del Contexto y Riesgo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744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sistemas necesitan el mismo nivel de seguridad. Los requisitos deben derivarse del RIESGO DEL NEGOCIO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Personal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2423160"/>
            <a:ext cx="1097280" cy="3200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2743200" y="2423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2377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básica, HTTPS opcional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0" y="3154680"/>
            <a:ext cx="1097280" cy="3200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2743200" y="3154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cifrado end-to-end, PCI-DSS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64008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Online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43200" y="3886200"/>
            <a:ext cx="1097280" cy="3200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2743200" y="3886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14800" y="38404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obligatorio, HSM, monitoreo 24/7, SOC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Ejemplos: Buenos vs Malos Requisitos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0696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 requisito: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ser seguro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Demasiado vago, no verificable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Buen requisito: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implementar MFA usando TOTP para todos los usuarios con acceso administrativo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 requisito: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deben ser fuertes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No especifica qué es 'fuerte'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Buen requisito: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deben tener mínimo 12 caracteres, incluyendo mayúsculas, minúsculas, números y símbolos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 requisito: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los datos sensibles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No define qué, cómo ni cuándo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Buen requisito: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tarjetas de crédito deben cifrarse en reposo usando AES-256 y en tránsito usando TLS 1.3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como Input para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de seguridad bien especificados se convierten en casos de prueba verificables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Requisito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sesiones deben expirar después de 15 minutos de inactividad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73152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Criterio de Aceptación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60320" y="3154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usuario inactivo por 15 min, cuando intenta acceder, entonces debe ser redirigido a login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73152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Caso de Prueba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56032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Iniciar sesión → Esperar 15 min → Intentar acción → Verificar logout automático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 de Derivación de Requisitos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586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54480" y="1371600"/>
            <a:ext cx="6949440" cy="365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activos críticos del negocio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1783080"/>
            <a:ext cx="0" cy="2286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554480" y="2011680"/>
            <a:ext cx="6949440" cy="365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737360" y="2011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amenazas relevantes para cada activo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2423160"/>
            <a:ext cx="0" cy="2286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554480" y="2651760"/>
            <a:ext cx="6949440" cy="365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737360" y="2651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riesgos (impacto x probabilidad)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3063240"/>
            <a:ext cx="0" cy="2286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54480" y="3291840"/>
            <a:ext cx="6949440" cy="365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1737360" y="32918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controles de seguridad basados en riesgo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43000" y="3703320"/>
            <a:ext cx="0" cy="2286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554480" y="3931920"/>
            <a:ext cx="6949440" cy="365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1737360" y="39319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</a:t>
            </a: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43000" y="4343400"/>
            <a:ext cx="0" cy="22860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554480" y="4572000"/>
            <a:ext cx="6949440" cy="365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1737360" y="4572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stakeholders (dev, sec, negocio)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Clave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de seguridad deben derivarse del riesgo del negocio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activos, amenazas y riesgos es el primer paso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0604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20240" y="2651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requisitos se traducen directamente en casos de prueba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0896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2024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determina el nivel de seguridad requerido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1828800" y="3520440"/>
            <a:ext cx="5486400" cy="64008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7"/>
          <p:cNvSpPr/>
          <p:nvPr/>
        </p:nvSpPr>
        <p:spPr>
          <a:xfrm>
            <a:off x="201168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requisitos bien definidos son la base del software seguro"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de Requisitos de Seguridad - Sesión 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vidad - Instruccio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457200" indent="0">
              <a:buNone/>
            </a:pPr>
            <a:r>
              <a:rPr lang="es-PE" sz="2400" b="1" dirty="0">
                <a:solidFill>
                  <a:srgbClr val="FFFFFF"/>
                </a:solidFill>
                <a:latin typeface="Arial Black" pitchFamily="34" charset="0"/>
              </a:rPr>
              <a:t>ACTIVIDAD GRUPAL - 20 minutos</a:t>
            </a:r>
          </a:p>
        </p:txBody>
      </p:sp>
      <p:sp>
        <p:nvSpPr>
          <p:cNvPr id="3" name="Subtitulo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2000" b="1" dirty="0">
                <a:solidFill>
                  <a:srgbClr val="1E2761"/>
                </a:solidFill>
                <a:latin typeface="Arial Black" pitchFamily="34" charset="0"/>
              </a:rPr>
              <a:t>Aplica los conceptos en tu proyecto de equipo</a:t>
            </a:r>
          </a:p>
        </p:txBody>
      </p:sp>
      <p:sp>
        <p:nvSpPr>
          <p:cNvPr id="4" name="LineaCyan"/>
          <p:cNvSpPr/>
          <p:nvPr/>
        </p:nvSpPr>
        <p:spPr>
          <a:xfrm>
            <a:off x="457200" y="1143000"/>
            <a:ext cx="22860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Paso1C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2000" b="1" dirty="0">
                <a:solidFill>
                  <a:srgbClr val="FFFFFF"/>
                </a:solidFill>
                <a:latin typeface="Arial Black" pitchFamily="34" charset="0"/>
              </a:rPr>
              <a:t>1</a:t>
            </a:r>
          </a:p>
        </p:txBody>
      </p:sp>
      <p:sp>
        <p:nvSpPr>
          <p:cNvPr id="11" name="Paso1T"/>
          <p:cNvSpPr/>
          <p:nvPr/>
        </p:nvSpPr>
        <p:spPr>
          <a:xfrm>
            <a:off x="1143000" y="1280160"/>
            <a:ext cx="754380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114300" rIns="114300" rtlCol="0" anchor="ctr"/>
          <a:lstStyle/>
          <a:p>
            <a:pPr marL="0" indent="0">
              <a:buNone/>
            </a:pPr>
            <a:r>
              <a:rPr lang="es-PE" sz="1600" b="1" dirty="0">
                <a:solidFill>
                  <a:srgbClr val="1E2761"/>
                </a:solidFill>
                <a:latin typeface="Arial Black" pitchFamily="34" charset="0"/>
              </a:rPr>
              <a:t>Matriz de Riesgos: </a:t>
            </a:r>
            <a:r>
              <a:rPr lang="es-PE" sz="1600" dirty="0">
                <a:solidFill>
                  <a:srgbClr val="2C3E50"/>
                </a:solidFill>
                <a:latin typeface="Calibri" pitchFamily="34" charset="0"/>
              </a:rPr>
              <a:t>Identificar Activo, Amenaza, Riesgo, Probabilidad e Impacto</a:t>
            </a:r>
          </a:p>
        </p:txBody>
      </p:sp>
      <p:sp>
        <p:nvSpPr>
          <p:cNvPr id="12" name="Paso2C"/>
          <p:cNvSpPr/>
          <p:nvPr/>
        </p:nvSpPr>
        <p:spPr>
          <a:xfrm>
            <a:off x="457200" y="1966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2000" b="1" dirty="0">
                <a:solidFill>
                  <a:srgbClr val="FFFFFF"/>
                </a:solidFill>
                <a:latin typeface="Arial Black" pitchFamily="34" charset="0"/>
              </a:rPr>
              <a:t>2</a:t>
            </a:r>
          </a:p>
        </p:txBody>
      </p:sp>
      <p:sp>
        <p:nvSpPr>
          <p:cNvPr id="13" name="Paso2T"/>
          <p:cNvSpPr/>
          <p:nvPr/>
        </p:nvSpPr>
        <p:spPr>
          <a:xfrm>
            <a:off x="1143000" y="1966320"/>
            <a:ext cx="75438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14300" rIns="114300" rtlCol="0" anchor="ctr"/>
          <a:lstStyle/>
          <a:p>
            <a:pPr marL="0" indent="0">
              <a:buNone/>
            </a:pPr>
            <a:r>
              <a:rPr lang="es-PE" sz="1600" b="1" dirty="0">
                <a:solidFill>
                  <a:srgbClr val="1E2761"/>
                </a:solidFill>
                <a:latin typeface="Arial Black" pitchFamily="34" charset="0"/>
              </a:rPr>
              <a:t>Requisitos de Seguridad: </a:t>
            </a:r>
            <a:r>
              <a:rPr lang="es-PE" sz="1600" dirty="0">
                <a:solidFill>
                  <a:srgbClr val="2C3E50"/>
                </a:solidFill>
                <a:latin typeface="Calibri" pitchFamily="34" charset="0"/>
              </a:rPr>
              <a:t>Derivar al menos 3 requisitos verificables a partir de los riesgos</a:t>
            </a:r>
          </a:p>
        </p:txBody>
      </p:sp>
      <p:sp>
        <p:nvSpPr>
          <p:cNvPr id="14" name="Paso3C"/>
          <p:cNvSpPr/>
          <p:nvPr/>
        </p:nvSpPr>
        <p:spPr>
          <a:xfrm>
            <a:off x="457200" y="2652480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2000" b="1" dirty="0">
                <a:solidFill>
                  <a:srgbClr val="FFFFFF"/>
                </a:solidFill>
                <a:latin typeface="Arial Black" pitchFamily="34" charset="0"/>
              </a:rPr>
              <a:t>3</a:t>
            </a:r>
          </a:p>
        </p:txBody>
      </p:sp>
      <p:sp>
        <p:nvSpPr>
          <p:cNvPr id="15" name="Paso3T"/>
          <p:cNvSpPr/>
          <p:nvPr/>
        </p:nvSpPr>
        <p:spPr>
          <a:xfrm>
            <a:off x="1143000" y="2652480"/>
            <a:ext cx="754380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114300" rIns="114300" rtlCol="0" anchor="ctr"/>
          <a:lstStyle/>
          <a:p>
            <a:pPr marL="0" indent="0">
              <a:buNone/>
            </a:pPr>
            <a:r>
              <a:rPr lang="es-PE" sz="1600" b="1" dirty="0">
                <a:solidFill>
                  <a:srgbClr val="1E2761"/>
                </a:solidFill>
                <a:latin typeface="Arial Black" pitchFamily="34" charset="0"/>
              </a:rPr>
              <a:t>Pruebas Unitarias: </a:t>
            </a:r>
            <a:r>
              <a:rPr lang="es-PE" sz="1600" dirty="0">
                <a:solidFill>
                  <a:srgbClr val="2C3E50"/>
                </a:solidFill>
                <a:latin typeface="Calibri" pitchFamily="34" charset="0"/>
              </a:rPr>
              <a:t>Disenar un caso de prueba por cada requisito de seguridad</a:t>
            </a:r>
          </a:p>
        </p:txBody>
      </p:sp>
      <p:sp>
        <p:nvSpPr>
          <p:cNvPr id="16" name="Nota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FF9C4"/>
          </a:solidFill>
          <a:ln>
            <a:solidFill>
              <a:srgbClr val="F9A825"/>
            </a:solidFill>
          </a:ln>
        </p:spPr>
        <p:txBody>
          <a:bodyPr wrap="square" lIns="114300" rIns="11430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7B5B00"/>
                </a:solidFill>
                <a:latin typeface="Calibri" pitchFamily="34" charset="0"/>
              </a:rPr>
              <a:t>Trabajen en base al proyecto de equipo que ya vienen desarrollando en el curso</a:t>
            </a:r>
          </a:p>
        </p:txBody>
      </p:sp>
      <p:sp>
        <p:nvSpPr>
          <p:cNvPr id="17" name="SubNota"/>
          <p:cNvSpPr/>
          <p:nvPr/>
        </p:nvSpPr>
        <p:spPr>
          <a:xfrm>
            <a:off x="457200" y="3932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200" dirty="0">
                <a:solidFill>
                  <a:srgbClr val="7F8C8D"/>
                </a:solidFill>
                <a:latin typeface="Calibri" pitchFamily="34" charset="0"/>
              </a:rPr>
              <a:t>Al finalizar, 2-3 grupos exponen su trabajo al resto de la clase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tilla Matriz de Riesg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3200" b="1" dirty="0">
                <a:solidFill>
                  <a:srgbClr val="1E2761"/>
                </a:solidFill>
                <a:latin typeface="Arial Black" pitchFamily="34" charset="0"/>
              </a:rPr>
              <a:t>Paso 1: Matriz de Riesgos</a:t>
            </a:r>
          </a:p>
        </p:txBody>
      </p:sp>
      <p:sp>
        <p:nvSpPr>
          <p:cNvPr id="3" name="Linea"/>
          <p:cNvSpPr/>
          <p:nvPr/>
        </p:nvSpPr>
        <p:spPr>
          <a:xfrm>
            <a:off x="457200" y="777240"/>
            <a:ext cx="22860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Instruccion"/>
          <p:cNvSpPr/>
          <p:nvPr/>
        </p:nvSpPr>
        <p:spPr>
          <a:xfrm>
            <a:off x="457200" y="82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7F8C8D"/>
                </a:solidFill>
                <a:latin typeface="Calibri" pitchFamily="34" charset="0"/>
              </a:rPr>
              <a:t>Completa al menos 3 filas identificando activos de tu proyecto. Probabilidad e Impacto: Alto / Medio / Bajo</a:t>
            </a:r>
          </a:p>
        </p:txBody>
      </p:sp>
      <p:sp>
        <p:nvSpPr>
          <p:cNvPr id="5" name="EncabezadoBG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6" name="ColActivo"/>
          <p:cNvSpPr/>
          <p:nvPr/>
        </p:nvSpPr>
        <p:spPr>
          <a:xfrm>
            <a:off x="45720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91440" rtlCol="0" anchor="ctr"/>
          <a:lstStyle/>
          <a:p>
            <a:pPr algn="ctr">
              <a:buNone/>
            </a:pPr>
            <a:r>
              <a:rPr lang="es-PE" sz="1300" b="1" dirty="0">
                <a:solidFill>
                  <a:srgbClr val="FFFFFF"/>
                </a:solidFill>
                <a:latin typeface="Calibri" pitchFamily="34" charset="0"/>
              </a:rPr>
              <a:t>ACTIVO</a:t>
            </a:r>
          </a:p>
        </p:txBody>
      </p:sp>
      <p:sp>
        <p:nvSpPr>
          <p:cNvPr id="7" name="ColAmenaza"/>
          <p:cNvSpPr/>
          <p:nvPr/>
        </p:nvSpPr>
        <p:spPr>
          <a:xfrm>
            <a:off x="20116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91440" rtlCol="0" anchor="ctr"/>
          <a:lstStyle/>
          <a:p>
            <a:pPr algn="ctr">
              <a:buNone/>
            </a:pPr>
            <a:r>
              <a:rPr lang="es-PE" sz="1300" b="1" dirty="0">
                <a:solidFill>
                  <a:srgbClr val="FFFFFF"/>
                </a:solidFill>
                <a:latin typeface="Calibri" pitchFamily="34" charset="0"/>
              </a:rPr>
              <a:t>AMENAZA</a:t>
            </a:r>
          </a:p>
        </p:txBody>
      </p:sp>
      <p:sp>
        <p:nvSpPr>
          <p:cNvPr id="8" name="ColRiesgo"/>
          <p:cNvSpPr/>
          <p:nvPr/>
        </p:nvSpPr>
        <p:spPr>
          <a:xfrm>
            <a:off x="384048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91440" rtlCol="0" anchor="ctr"/>
          <a:lstStyle/>
          <a:p>
            <a:pPr algn="ctr">
              <a:buNone/>
            </a:pPr>
            <a:r>
              <a:rPr lang="es-PE" sz="1300" b="1" dirty="0">
                <a:solidFill>
                  <a:srgbClr val="FFFFFF"/>
                </a:solidFill>
                <a:latin typeface="Calibri" pitchFamily="34" charset="0"/>
              </a:rPr>
              <a:t>RIESGO</a:t>
            </a:r>
          </a:p>
        </p:txBody>
      </p:sp>
      <p:sp>
        <p:nvSpPr>
          <p:cNvPr id="9" name="ColProb"/>
          <p:cNvSpPr/>
          <p:nvPr/>
        </p:nvSpPr>
        <p:spPr>
          <a:xfrm>
            <a:off x="566928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91440" rtlCol="0" anchor="ctr"/>
          <a:lstStyle/>
          <a:p>
            <a:pPr algn="ctr">
              <a:buNone/>
            </a:pPr>
            <a:r>
              <a:rPr lang="es-PE" sz="1300" b="1" dirty="0">
                <a:solidFill>
                  <a:srgbClr val="00BCD4"/>
                </a:solidFill>
                <a:latin typeface="Calibri" pitchFamily="34" charset="0"/>
              </a:rPr>
              <a:t>PROBABILIDAD</a:t>
            </a:r>
          </a:p>
        </p:txBody>
      </p:sp>
      <p:sp>
        <p:nvSpPr>
          <p:cNvPr id="10" name="ColImpacto"/>
          <p:cNvSpPr/>
          <p:nvPr/>
        </p:nvSpPr>
        <p:spPr>
          <a:xfrm>
            <a:off x="704088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91440" rtlCol="0" anchor="ctr"/>
          <a:lstStyle/>
          <a:p>
            <a:pPr algn="ctr">
              <a:buNone/>
            </a:pPr>
            <a:r>
              <a:rPr lang="es-PE" sz="1300" b="1" dirty="0">
                <a:solidFill>
                  <a:srgbClr val="00BCD4"/>
                </a:solidFill>
                <a:latin typeface="Calibri" pitchFamily="34" charset="0"/>
              </a:rPr>
              <a:t>IMPACTO</a:t>
            </a:r>
          </a:p>
        </p:txBody>
      </p:sp>
      <p:sp>
        <p:nvSpPr>
          <p:cNvPr id="20" name="Fila1BG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E0F7FA"/>
          </a:solidFill>
          <a:ln>
            <a:solidFill>
              <a:srgbClr val="B2EBF2"/>
            </a:solidFill>
          </a:ln>
        </p:spPr>
        <p:txBody>
          <a:bodyPr wrap="square" lIns="91440" rtlCol="0" anchor="ctr"/>
          <a:lstStyle/>
          <a:p>
            <a:pPr algn="l">
              <a:buNone/>
            </a:pPr>
            <a:r>
              <a:rPr lang="es-PE" sz="1200" dirty="0">
                <a:solidFill>
                  <a:srgbClr val="7F8C8D"/>
                </a:solidFill>
                <a:latin typeface="Calibri" pitchFamily="34" charset="0"/>
              </a:rPr>
              <a:t>Ej: Datos de usuarios          Ej: SQL </a:t>
            </a:r>
            <a:r>
              <a:rPr lang="es-PE" sz="1200" dirty="0" err="1">
                <a:solidFill>
                  <a:srgbClr val="7F8C8D"/>
                </a:solidFill>
                <a:latin typeface="Calibri" pitchFamily="34" charset="0"/>
              </a:rPr>
              <a:t>Injection</a:t>
            </a:r>
            <a:r>
              <a:rPr lang="es-PE" sz="1200" dirty="0">
                <a:solidFill>
                  <a:srgbClr val="7F8C8D"/>
                </a:solidFill>
                <a:latin typeface="Calibri" pitchFamily="34" charset="0"/>
              </a:rPr>
              <a:t>                        </a:t>
            </a:r>
            <a:r>
              <a:rPr lang="es-PE" sz="1200" dirty="0" err="1">
                <a:solidFill>
                  <a:srgbClr val="7F8C8D"/>
                </a:solidFill>
                <a:latin typeface="Calibri" pitchFamily="34" charset="0"/>
              </a:rPr>
              <a:t>Ej</a:t>
            </a:r>
            <a:r>
              <a:rPr lang="es-PE" sz="1200" dirty="0">
                <a:solidFill>
                  <a:srgbClr val="7F8C8D"/>
                </a:solidFill>
                <a:latin typeface="Calibri" pitchFamily="34" charset="0"/>
              </a:rPr>
              <a:t>: Robo de credenciales          	       Alto                                </a:t>
            </a:r>
            <a:r>
              <a:rPr lang="es-PE" sz="1200" dirty="0" err="1">
                <a:solidFill>
                  <a:srgbClr val="7F8C8D"/>
                </a:solidFill>
                <a:latin typeface="Calibri" pitchFamily="34" charset="0"/>
              </a:rPr>
              <a:t>Alto</a:t>
            </a:r>
            <a:endParaRPr lang="es-PE" sz="1200" dirty="0">
              <a:solidFill>
                <a:srgbClr val="7F8C8D"/>
              </a:solidFill>
              <a:latin typeface="Calibri" pitchFamily="34" charset="0"/>
            </a:endParaRPr>
          </a:p>
        </p:txBody>
      </p:sp>
      <p:sp>
        <p:nvSpPr>
          <p:cNvPr id="21" name="Fila2BG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5D8DC"/>
            </a:solidFill>
          </a:ln>
        </p:spPr>
        <p:txBody>
          <a:bodyPr wrap="square" lIns="91440" rtlCol="0" anchor="ctr"/>
          <a:lstStyle/>
          <a:p>
            <a:pPr algn="l">
              <a:buNone/>
            </a:pPr>
            <a:endParaRPr lang="es-PE" sz="1300" dirty="0">
              <a:solidFill>
                <a:srgbClr val="BDC3C7"/>
              </a:solidFill>
              <a:latin typeface="Calibri" pitchFamily="34" charset="0"/>
            </a:endParaRPr>
          </a:p>
        </p:txBody>
      </p:sp>
      <p:sp>
        <p:nvSpPr>
          <p:cNvPr id="22" name="Fila3BG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wrap="square" lIns="91440" rtlCol="0" anchor="ctr"/>
          <a:lstStyle/>
          <a:p>
            <a:pPr algn="l">
              <a:buNone/>
            </a:pPr>
            <a:endParaRPr lang="es-PE" sz="1300" dirty="0">
              <a:solidFill>
                <a:srgbClr val="BDC3C7"/>
              </a:solidFill>
              <a:latin typeface="Calibri" pitchFamily="34" charset="0"/>
            </a:endParaRPr>
          </a:p>
        </p:txBody>
      </p:sp>
      <p:sp>
        <p:nvSpPr>
          <p:cNvPr id="23" name="Fila4BG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solidFill>
            <a:srgbClr val="F5F7FA"/>
          </a:solidFill>
          <a:ln>
            <a:solidFill>
              <a:srgbClr val="D5D8DC"/>
            </a:solidFill>
          </a:ln>
        </p:spPr>
        <p:txBody>
          <a:bodyPr wrap="square" lIns="91440" rtlCol="0" anchor="ctr"/>
          <a:lstStyle/>
          <a:p>
            <a:pPr algn="l">
              <a:buNone/>
            </a:pPr>
            <a:endParaRPr lang="es-PE" sz="1300" dirty="0">
              <a:solidFill>
                <a:srgbClr val="BDC3C7"/>
              </a:solidFill>
              <a:latin typeface="Calibri" pitchFamily="34" charset="0"/>
            </a:endParaRPr>
          </a:p>
        </p:txBody>
      </p:sp>
      <p:sp>
        <p:nvSpPr>
          <p:cNvPr id="30" name="Sep1"/>
          <p:cNvSpPr/>
          <p:nvPr/>
        </p:nvSpPr>
        <p:spPr>
          <a:xfrm>
            <a:off x="2011680" y="1143000"/>
            <a:ext cx="38100" cy="1828800"/>
          </a:xfrm>
          <a:prstGeom prst="rect">
            <a:avLst/>
          </a:prstGeom>
          <a:solidFill>
            <a:srgbClr val="D5D8D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Sep2"/>
          <p:cNvSpPr/>
          <p:nvPr/>
        </p:nvSpPr>
        <p:spPr>
          <a:xfrm>
            <a:off x="3840480" y="1143000"/>
            <a:ext cx="38100" cy="1828800"/>
          </a:xfrm>
          <a:prstGeom prst="rect">
            <a:avLst/>
          </a:prstGeom>
          <a:solidFill>
            <a:srgbClr val="D5D8D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Sep3"/>
          <p:cNvSpPr/>
          <p:nvPr/>
        </p:nvSpPr>
        <p:spPr>
          <a:xfrm>
            <a:off x="5669280" y="1143000"/>
            <a:ext cx="38100" cy="1828800"/>
          </a:xfrm>
          <a:prstGeom prst="rect">
            <a:avLst/>
          </a:prstGeom>
          <a:solidFill>
            <a:srgbClr val="D5D8D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Sep4"/>
          <p:cNvSpPr/>
          <p:nvPr/>
        </p:nvSpPr>
        <p:spPr>
          <a:xfrm>
            <a:off x="7040880" y="1143000"/>
            <a:ext cx="38100" cy="1828800"/>
          </a:xfrm>
          <a:prstGeom prst="rect">
            <a:avLst/>
          </a:prstGeom>
          <a:solidFill>
            <a:srgbClr val="D5D8D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0" name="LeyendaTitulo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200" b="1" dirty="0">
                <a:solidFill>
                  <a:srgbClr val="1E2761"/>
                </a:solidFill>
                <a:latin typeface="Calibri" pitchFamily="34" charset="0"/>
              </a:rPr>
              <a:t>Referencia de colores por nivel de riesgo:</a:t>
            </a:r>
          </a:p>
        </p:txBody>
      </p:sp>
      <p:sp>
        <p:nvSpPr>
          <p:cNvPr id="41" name="LeyAlto"/>
          <p:cNvSpPr/>
          <p:nvPr/>
        </p:nvSpPr>
        <p:spPr>
          <a:xfrm>
            <a:off x="457200" y="3512076"/>
            <a:ext cx="685800" cy="419952"/>
          </a:xfrm>
          <a:prstGeom prst="rect">
            <a:avLst/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1100" b="1" dirty="0">
                <a:solidFill>
                  <a:srgbClr val="C62828"/>
                </a:solidFill>
                <a:latin typeface="Calibri" pitchFamily="34" charset="0"/>
              </a:rPr>
              <a:t>ALTO</a:t>
            </a:r>
          </a:p>
        </p:txBody>
      </p:sp>
      <p:sp>
        <p:nvSpPr>
          <p:cNvPr id="42" name="LeyMedio"/>
          <p:cNvSpPr/>
          <p:nvPr/>
        </p:nvSpPr>
        <p:spPr>
          <a:xfrm>
            <a:off x="1967610" y="3507705"/>
            <a:ext cx="685800" cy="419951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1100" b="1" dirty="0">
                <a:solidFill>
                  <a:srgbClr val="F57F17"/>
                </a:solidFill>
                <a:latin typeface="Calibri" pitchFamily="34" charset="0"/>
              </a:rPr>
              <a:t>MEDIO – BAJO</a:t>
            </a:r>
          </a:p>
        </p:txBody>
      </p:sp>
      <p:sp>
        <p:nvSpPr>
          <p:cNvPr id="43" name="LeyBajo"/>
          <p:cNvSpPr/>
          <p:nvPr/>
        </p:nvSpPr>
        <p:spPr>
          <a:xfrm>
            <a:off x="2743200" y="3512076"/>
            <a:ext cx="685800" cy="419952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1100" b="1" dirty="0">
                <a:solidFill>
                  <a:srgbClr val="2E7D32"/>
                </a:solidFill>
                <a:latin typeface="Calibri" pitchFamily="34" charset="0"/>
              </a:rPr>
              <a:t>BAJO</a:t>
            </a:r>
          </a:p>
        </p:txBody>
      </p:sp>
      <p:pic>
        <p:nvPicPr>
          <p:cNvPr id="1026" name="Picture 2" descr="Qué es la Matriz de Riesgos y por qué es clave bajo la nueva Ley de  Seguridad Privada? | Heimdal Seguridad Patrimonial">
            <a:extLst>
              <a:ext uri="{FF2B5EF4-FFF2-40B4-BE49-F238E27FC236}">
                <a16:creationId xmlns:a16="http://schemas.microsoft.com/office/drawing/2014/main" id="{73B8D48E-E3A0-640E-6FCF-E8411D675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060" y="3025883"/>
            <a:ext cx="2137920" cy="2086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LeyMedio">
            <a:extLst>
              <a:ext uri="{FF2B5EF4-FFF2-40B4-BE49-F238E27FC236}">
                <a16:creationId xmlns:a16="http://schemas.microsoft.com/office/drawing/2014/main" id="{A3DF23A1-1390-D878-0864-A0295738C493}"/>
              </a:ext>
            </a:extLst>
          </p:cNvPr>
          <p:cNvSpPr/>
          <p:nvPr/>
        </p:nvSpPr>
        <p:spPr>
          <a:xfrm>
            <a:off x="1234440" y="3512076"/>
            <a:ext cx="685800" cy="4199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s-PE" sz="1100" b="1" dirty="0">
                <a:solidFill>
                  <a:srgbClr val="F57F17"/>
                </a:solidFill>
                <a:latin typeface="Calibri" pitchFamily="34" charset="0"/>
              </a:rPr>
              <a:t>MEDIO – ALTO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tilla Requisitos y Prueb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Izq"/>
          <p:cNvSpPr/>
          <p:nvPr/>
        </p:nvSpPr>
        <p:spPr>
          <a:xfrm>
            <a:off x="228600" y="182880"/>
            <a:ext cx="43432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14300" rtlCol="0" anchor="ctr"/>
          <a:lstStyle/>
          <a:p>
            <a:pPr marL="0" indent="0">
              <a:buNone/>
            </a:pPr>
            <a:r>
              <a:rPr lang="es-PE" sz="1800" b="1" dirty="0">
                <a:solidFill>
                  <a:srgbClr val="FFFFFF"/>
                </a:solidFill>
                <a:latin typeface="Arial Black" pitchFamily="34" charset="0"/>
              </a:rPr>
              <a:t>Paso 2: Requisitos de Seguridad</a:t>
            </a:r>
          </a:p>
        </p:txBody>
      </p:sp>
      <p:sp>
        <p:nvSpPr>
          <p:cNvPr id="3" name="SubIzq"/>
          <p:cNvSpPr/>
          <p:nvPr/>
        </p:nvSpPr>
        <p:spPr>
          <a:xfrm>
            <a:off x="228600" y="777240"/>
            <a:ext cx="434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7F8C8D"/>
                </a:solidFill>
                <a:latin typeface="Calibri" pitchFamily="34" charset="0"/>
              </a:rPr>
              <a:t>Deriva al menos 3 requisitos verificables de tu matriz</a:t>
            </a:r>
          </a:p>
        </p:txBody>
      </p:sp>
      <p:sp>
        <p:nvSpPr>
          <p:cNvPr id="4" name="EncIzq"/>
          <p:cNvSpPr/>
          <p:nvPr/>
        </p:nvSpPr>
        <p:spPr>
          <a:xfrm>
            <a:off x="228600" y="1097280"/>
            <a:ext cx="4343280" cy="320040"/>
          </a:xfrm>
          <a:prstGeom prst="rect">
            <a:avLst/>
          </a:prstGeom>
          <a:solidFill>
            <a:srgbClr val="00BCD4"/>
          </a:solidFill>
          <a:ln/>
        </p:spPr>
        <p:txBody>
          <a:bodyPr wrap="square" lIns="91440" rtlCol="0" anchor="ctr"/>
          <a:lstStyle/>
          <a:p>
            <a:pPr algn="l">
              <a:buNone/>
            </a:pPr>
            <a:r>
              <a:rPr lang="es-PE" sz="1200" b="1" dirty="0">
                <a:solidFill>
                  <a:srgbClr val="FFFFFF"/>
                </a:solidFill>
                <a:latin typeface="Calibri" pitchFamily="34" charset="0"/>
              </a:rPr>
              <a:t>REQUISITO (formato: El sistema debe...)</a:t>
            </a:r>
          </a:p>
        </p:txBody>
      </p:sp>
      <p:sp>
        <p:nvSpPr>
          <p:cNvPr id="5" name="Req1"/>
          <p:cNvSpPr/>
          <p:nvPr/>
        </p:nvSpPr>
        <p:spPr>
          <a:xfrm>
            <a:off x="228600" y="1417320"/>
            <a:ext cx="4343280" cy="548640"/>
          </a:xfrm>
          <a:prstGeom prst="rect">
            <a:avLst/>
          </a:prstGeom>
          <a:solidFill>
            <a:srgbClr val="E0F7FA"/>
          </a:solidFill>
          <a:ln>
            <a:solidFill>
              <a:srgbClr val="B2EBF2"/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PE" sz="1100" b="1" dirty="0">
                <a:solidFill>
                  <a:srgbClr val="00838F"/>
                </a:solidFill>
                <a:latin typeface="Calibri" pitchFamily="34" charset="0"/>
              </a:rPr>
              <a:t>REQ-01 (Ejemplo): </a:t>
            </a:r>
            <a:r>
              <a:rPr lang="es-PE" sz="1100" dirty="0">
                <a:solidFill>
                  <a:srgbClr val="2C3E50"/>
                </a:solidFill>
                <a:latin typeface="Calibri" pitchFamily="34" charset="0"/>
              </a:rPr>
              <a:t>El sistema debe bloquear la cuenta despues de 5 intentos fallidos de login</a:t>
            </a:r>
          </a:p>
        </p:txBody>
      </p:sp>
      <p:sp>
        <p:nvSpPr>
          <p:cNvPr id="6" name="Req2"/>
          <p:cNvSpPr/>
          <p:nvPr/>
        </p:nvSpPr>
        <p:spPr>
          <a:xfrm>
            <a:off x="228600" y="1965960"/>
            <a:ext cx="4343280" cy="548640"/>
          </a:xfrm>
          <a:prstGeom prst="rect">
            <a:avLst/>
          </a:prstGeom>
          <a:solidFill>
            <a:srgbClr val="F5F7FA"/>
          </a:solidFill>
          <a:ln>
            <a:solidFill>
              <a:srgbClr val="D5D8DC"/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REQ-02: </a:t>
            </a:r>
            <a:r>
              <a:rPr lang="es-PE" sz="1100" dirty="0">
                <a:solidFill>
                  <a:srgbClr val="BDC3C7"/>
                </a:solidFill>
                <a:latin typeface="Calibri" pitchFamily="34" charset="0"/>
              </a:rPr>
              <a:t>El sistema debe ___________________________________</a:t>
            </a:r>
          </a:p>
        </p:txBody>
      </p:sp>
      <p:sp>
        <p:nvSpPr>
          <p:cNvPr id="7" name="Req3"/>
          <p:cNvSpPr/>
          <p:nvPr/>
        </p:nvSpPr>
        <p:spPr>
          <a:xfrm>
            <a:off x="228600" y="2514600"/>
            <a:ext cx="4343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REQ-03: </a:t>
            </a:r>
            <a:r>
              <a:rPr lang="es-PE" sz="1100" dirty="0">
                <a:solidFill>
                  <a:srgbClr val="BDC3C7"/>
                </a:solidFill>
                <a:latin typeface="Calibri" pitchFamily="34" charset="0"/>
              </a:rPr>
              <a:t>El sistema debe ___________________________________</a:t>
            </a:r>
          </a:p>
        </p:txBody>
      </p:sp>
      <p:sp>
        <p:nvSpPr>
          <p:cNvPr id="50" name="SepCentral"/>
          <p:cNvSpPr/>
          <p:nvPr/>
        </p:nvSpPr>
        <p:spPr>
          <a:xfrm>
            <a:off x="4617240" y="182880"/>
            <a:ext cx="45720" cy="30632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0" name="CabDer"/>
          <p:cNvSpPr/>
          <p:nvPr/>
        </p:nvSpPr>
        <p:spPr>
          <a:xfrm>
            <a:off x="4754640" y="182880"/>
            <a:ext cx="416064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14300" rtlCol="0" anchor="ctr"/>
          <a:lstStyle/>
          <a:p>
            <a:pPr marL="0" indent="0">
              <a:buNone/>
            </a:pPr>
            <a:r>
              <a:rPr lang="es-PE" sz="1800" b="1" dirty="0">
                <a:solidFill>
                  <a:srgbClr val="FFFFFF"/>
                </a:solidFill>
                <a:latin typeface="Arial Black" pitchFamily="34" charset="0"/>
              </a:rPr>
              <a:t>Paso 3: Pruebas Unitarias</a:t>
            </a:r>
          </a:p>
        </p:txBody>
      </p:sp>
      <p:sp>
        <p:nvSpPr>
          <p:cNvPr id="61" name="SubDer"/>
          <p:cNvSpPr/>
          <p:nvPr/>
        </p:nvSpPr>
        <p:spPr>
          <a:xfrm>
            <a:off x="4754640" y="777240"/>
            <a:ext cx="416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7F8C8D"/>
                </a:solidFill>
                <a:latin typeface="Calibri" pitchFamily="34" charset="0"/>
              </a:rPr>
              <a:t>Formato: Dado... Cuando... Entonces... (BDD)</a:t>
            </a:r>
          </a:p>
        </p:txBody>
      </p:sp>
      <p:sp>
        <p:nvSpPr>
          <p:cNvPr id="62" name="EncDer"/>
          <p:cNvSpPr/>
          <p:nvPr/>
        </p:nvSpPr>
        <p:spPr>
          <a:xfrm>
            <a:off x="4754640" y="1097280"/>
            <a:ext cx="416064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91440" rtlCol="0" anchor="ctr"/>
          <a:lstStyle/>
          <a:p>
            <a:pPr algn="l">
              <a:buNone/>
            </a:pPr>
            <a:r>
              <a:rPr lang="es-PE" sz="1200" b="1" dirty="0">
                <a:solidFill>
                  <a:srgbClr val="FFFFFF"/>
                </a:solidFill>
                <a:latin typeface="Calibri" pitchFamily="34" charset="0"/>
              </a:rPr>
              <a:t>CASO DE PRUEBA (vinculado al REQ)</a:t>
            </a:r>
          </a:p>
        </p:txBody>
      </p:sp>
      <p:sp>
        <p:nvSpPr>
          <p:cNvPr id="63" name="Test1"/>
          <p:cNvSpPr/>
          <p:nvPr/>
        </p:nvSpPr>
        <p:spPr>
          <a:xfrm>
            <a:off x="4754640" y="1417320"/>
            <a:ext cx="4160640" cy="548640"/>
          </a:xfrm>
          <a:prstGeom prst="rect">
            <a:avLst/>
          </a:prstGeom>
          <a:solidFill>
            <a:srgbClr val="EDE7F6"/>
          </a:solidFill>
          <a:ln>
            <a:solidFill>
              <a:srgbClr val="CE93D8"/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PE" sz="1000" b="1" dirty="0">
                <a:solidFill>
                  <a:srgbClr val="6A1B9A"/>
                </a:solidFill>
                <a:latin typeface="Calibri" pitchFamily="34" charset="0"/>
              </a:rPr>
              <a:t>TEST-01 (REQ-01): </a:t>
            </a:r>
            <a:r>
              <a:rPr lang="es-PE" sz="1000" dirty="0">
                <a:solidFill>
                  <a:srgbClr val="2C3E50"/>
                </a:solidFill>
                <a:latin typeface="Calibri" pitchFamily="34" charset="0"/>
              </a:rPr>
              <a:t>DADO usuario con 4 intentos fallidos, CUANDO falla el 5to intento, ENTONCES la cuenta queda bloqueada 15 min</a:t>
            </a:r>
          </a:p>
        </p:txBody>
      </p:sp>
      <p:sp>
        <p:nvSpPr>
          <p:cNvPr id="64" name="Test2"/>
          <p:cNvSpPr/>
          <p:nvPr/>
        </p:nvSpPr>
        <p:spPr>
          <a:xfrm>
            <a:off x="4754640" y="1965960"/>
            <a:ext cx="41606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D5D8DC"/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PE" sz="1000" b="1" dirty="0">
                <a:solidFill>
                  <a:srgbClr val="1E2761"/>
                </a:solidFill>
                <a:latin typeface="Calibri" pitchFamily="34" charset="0"/>
              </a:rPr>
              <a:t>TEST-02 (REQ-02): </a:t>
            </a:r>
            <a:r>
              <a:rPr lang="es-PE" sz="1000" dirty="0">
                <a:solidFill>
                  <a:srgbClr val="BDC3C7"/>
                </a:solidFill>
                <a:latin typeface="Calibri" pitchFamily="34" charset="0"/>
              </a:rPr>
              <a:t>DADO ________ CUANDO ________ ENTONCES ________</a:t>
            </a:r>
          </a:p>
        </p:txBody>
      </p:sp>
      <p:sp>
        <p:nvSpPr>
          <p:cNvPr id="65" name="Test3"/>
          <p:cNvSpPr/>
          <p:nvPr/>
        </p:nvSpPr>
        <p:spPr>
          <a:xfrm>
            <a:off x="4754640" y="2514600"/>
            <a:ext cx="4160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wrap="square" lIns="91440" tIns="91440" rtlCol="0" anchor="t"/>
          <a:lstStyle/>
          <a:p>
            <a:pPr marL="0" indent="0">
              <a:buNone/>
            </a:pPr>
            <a:r>
              <a:rPr lang="es-PE" sz="1000" b="1" dirty="0">
                <a:solidFill>
                  <a:srgbClr val="1E2761"/>
                </a:solidFill>
                <a:latin typeface="Calibri" pitchFamily="34" charset="0"/>
              </a:rPr>
              <a:t>TEST-03 (REQ-03): </a:t>
            </a:r>
            <a:r>
              <a:rPr lang="es-PE" sz="1000" dirty="0">
                <a:solidFill>
                  <a:srgbClr val="BDC3C7"/>
                </a:solidFill>
                <a:latin typeface="Calibri" pitchFamily="34" charset="0"/>
              </a:rPr>
              <a:t>DADO ________ CUANDO ________ ENTONCES ________</a:t>
            </a:r>
          </a:p>
        </p:txBody>
      </p:sp>
      <p:sp>
        <p:nvSpPr>
          <p:cNvPr id="70" name="PieBDD"/>
          <p:cNvSpPr/>
          <p:nvPr/>
        </p:nvSpPr>
        <p:spPr>
          <a:xfrm>
            <a:off x="228600" y="3200400"/>
            <a:ext cx="8686800" cy="320040"/>
          </a:xfrm>
          <a:prstGeom prst="rect">
            <a:avLst/>
          </a:prstGeom>
          <a:solidFill>
            <a:srgbClr val="EDE7F6"/>
          </a:solidFill>
          <a:ln>
            <a:solidFill>
              <a:srgbClr val="CE93D8"/>
            </a:solidFill>
          </a:ln>
        </p:spPr>
        <p:txBody>
          <a:bodyPr wrap="square" lIns="114300" rtlCol="0" anchor="ctr"/>
          <a:lstStyle/>
          <a:p>
            <a:pPr marL="0" indent="0">
              <a:buNone/>
            </a:pPr>
            <a:r>
              <a:rPr lang="es-PE" sz="1100" b="1" dirty="0">
                <a:solidFill>
                  <a:srgbClr val="6A1B9A"/>
                </a:solidFill>
                <a:latin typeface="Calibri" pitchFamily="34" charset="0"/>
              </a:rPr>
              <a:t>Tip BDD: </a:t>
            </a:r>
            <a:r>
              <a:rPr lang="es-PE" sz="1100" dirty="0">
                <a:solidFill>
                  <a:srgbClr val="4A148C"/>
                </a:solidFill>
                <a:latin typeface="Calibri" pitchFamily="34" charset="0"/>
              </a:rPr>
              <a:t>DADO (estado inicial)  |  CUANDO (accion del usuario o sistema)  |  ENTONCES (resultado esperado verificable)</a:t>
            </a:r>
          </a:p>
        </p:txBody>
      </p:sp>
      <p:sp>
        <p:nvSpPr>
          <p:cNvPr id="71" name="ClaveVerif"/>
          <p:cNvSpPr/>
          <p:nvPr/>
        </p:nvSpPr>
        <p:spPr>
          <a:xfrm>
            <a:off x="228600" y="3566160"/>
            <a:ext cx="8686800" cy="32004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14300" rtlCol="0" anchor="ctr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Clave: </a:t>
            </a:r>
            <a:r>
              <a:rPr lang="es-PE" sz="1100" dirty="0">
                <a:solidFill>
                  <a:srgbClr val="2C3E50"/>
                </a:solidFill>
                <a:latin typeface="Calibri" pitchFamily="34" charset="0"/>
              </a:rPr>
              <a:t>Un buen requisito de seguridad siempre se puede convertir en un caso de prueba automatizable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839</Words>
  <Application>Microsoft Office PowerPoint</Application>
  <PresentationFormat>Presentación en pantalla (16:9)</PresentationFormat>
  <Paragraphs>133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Derivación de Requisitos de Seguridad - Sesión 4</dc:title>
  <dc:subject>PptxGenJS Presentation</dc:subject>
  <dc:creator>Instructor</dc:creator>
  <cp:lastModifiedBy>Diego Alonso Garate Polar</cp:lastModifiedBy>
  <cp:revision>1</cp:revision>
  <dcterms:created xsi:type="dcterms:W3CDTF">2026-01-29T02:04:18Z</dcterms:created>
  <dcterms:modified xsi:type="dcterms:W3CDTF">2026-04-28T18:50:15Z</dcterms:modified>
</cp:coreProperties>
</file>