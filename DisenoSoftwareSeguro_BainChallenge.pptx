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1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1148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SOFTWARE SEGURO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100584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Software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20040" y="192024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Aplicado al mundo real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20040" y="2743200"/>
            <a:ext cx="3200400" cy="457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880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real: Entrevista System Design en Bain &amp; Company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App – Prototipo MVP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  |  Desarrollo Seguro  |  2025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498080" y="731520"/>
            <a:ext cx="2286000" cy="2286000"/>
          </a:xfrm>
          <a:prstGeom prst="ellipse">
            <a:avLst/>
          </a:prstGeom>
          <a:solidFill>
            <a:srgbClr val="0077B6">
              <a:alpha val="20000"/>
            </a:srgbClr>
          </a:solidFill>
          <a:ln w="12700">
            <a:solidFill>
              <a:srgbClr val="0077B6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0" y="2286000"/>
            <a:ext cx="1371600" cy="1371600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502920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10515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Stakeholders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49047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necesita el cliente?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60120"/>
            <a:ext cx="502920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96012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03520" y="10515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0" y="149047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Funcionales, No funcionales y Out of Scope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19456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194560"/>
            <a:ext cx="502920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19456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" y="22860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Alto Nivel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272491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y decisiones técnicas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19456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194560"/>
            <a:ext cx="502920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19456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03520" y="22860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vs Solución Long-term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0" y="272491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construimos primero y por qué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42900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429000"/>
            <a:ext cx="502920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42900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68680" y="35204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y Workflow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395935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trabajar en equipo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42900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429000"/>
            <a:ext cx="502920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42900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03520" y="35204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Lecciones para el curso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03520" y="395935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el diseño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Bain &amp; Company  |  System Design Interview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029200" cy="356616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5029200" cy="4114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60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444752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cliente quiere competir en el escenario post-pandemia lanzando una </a:t>
            </a:r>
            <a:pPr indent="0" marL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App</a:t>
            </a:r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como nuevo canal de ventas.
</a:t>
            </a:r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funcional en </a:t>
            </a:r>
            <a:pPr indent="0" marL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meses</a:t>
            </a:r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experimentar → decidir solución a largo plazo.
</a:t>
            </a:r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Actors: </a:t>
            </a:r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(comprador) y Agentes de delivery (repartidor).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532120" y="960120"/>
            <a:ext cx="3337560" cy="356616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532120" y="960120"/>
            <a:ext cx="333756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23560" y="9601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23560" y="1508760"/>
            <a:ext cx="109728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06440" y="1508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Lead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23560" y="2057400"/>
            <a:ext cx="109728" cy="3200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06440" y="2057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UX/UI Designer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23560" y="2606040"/>
            <a:ext cx="109728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2606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23560" y="3154680"/>
            <a:ext cx="109728" cy="3200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3154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23560" y="3703320"/>
            <a:ext cx="109728" cy="3200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6440" y="3703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Leader  ← Diego Garate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 FUNCIONALES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del MVP — User Stories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114800" cy="347472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4114800" cy="43891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3444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CLIENTE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865376"/>
            <a:ext cx="201168" cy="20116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80136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Colocar pedidos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459736"/>
            <a:ext cx="201168" cy="20116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39572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Cancelar pedidos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3054096"/>
            <a:ext cx="201168" cy="20116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99008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dirección de entrega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1234440"/>
            <a:ext cx="4114800" cy="347472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234440"/>
            <a:ext cx="4114800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23444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🚴  AGENTE DE DELIVERY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92040" y="1865376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66360" y="180136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órdenes activas/asignadas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92040" y="2459736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66360" y="239572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Finalizar órdenes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92040" y="3054096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66360" y="299008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Cancelar órdenes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92040" y="3648456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358444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perfil personal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663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Cada User Story = "Como [ROL] quiero [ACCIÓN] para [OBJETIVO]" — base del diseño funcional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 NO FUNCIONALES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651760" cy="141732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6517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43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Escalabilidad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53619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arquitectura debe soportar más clientes locales sin rediseño.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651760" cy="141732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05840"/>
            <a:ext cx="26517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0128" y="1143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Seguridad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10128" y="153619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Auth/Autho separado por tipo de usuario. HTTPS obligatorio.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651760" cy="141732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05840"/>
            <a:ext cx="26517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6208" y="1143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Disponibilidad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36208" y="153619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Minimizar downtime con microservicios desacoplados.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737360" y="2606040"/>
            <a:ext cx="2651760" cy="141732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737360" y="2606040"/>
            <a:ext cx="26517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47088" y="2743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Mantenibilidad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847088" y="313639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pequeños = responsabilidad única (SRP).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606040"/>
            <a:ext cx="2651760" cy="141732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606040"/>
            <a:ext cx="26517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2743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Portabilidad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73168" y="313639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CI/CD con ambientes Dev → Gamma → Prod.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114800"/>
            <a:ext cx="8595360" cy="868680"/>
          </a:xfrm>
          <a:prstGeom prst="rect">
            <a:avLst/>
          </a:prstGeom>
          <a:solidFill>
            <a:srgbClr val="FFF3CD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1330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OUT OF SCOPE (MVP)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148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 de clientes  •  Pagos en línea  •  Integración automática con sistemas financieros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ALTO NIVEL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3-tier + Microservicios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1440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CLIENT SIDE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App (UI)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Agent App (UI)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103120"/>
            <a:ext cx="859536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10312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SERVER SIDE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468880"/>
            <a:ext cx="8321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Auth/Autho Services (×2)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Service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Service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CRUD Service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Services (×2)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Engine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Broker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4251960"/>
            <a:ext cx="859536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425196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DATA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461772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DB (PostgreSQL)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89120" y="1261872"/>
            <a:ext cx="0" cy="256032"/>
          </a:xfrm>
          <a:prstGeom prst="line">
            <a:avLst/>
          </a:prstGeom>
          <a:noFill/>
          <a:ln w="19050">
            <a:solidFill>
              <a:srgbClr val="4A5568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4389120" y="3337560"/>
            <a:ext cx="0" cy="256032"/>
          </a:xfrm>
          <a:prstGeom prst="line">
            <a:avLst/>
          </a:prstGeom>
          <a:noFill/>
          <a:ln w="19050">
            <a:solidFill>
              <a:srgbClr val="4A5568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6675120" y="914400"/>
            <a:ext cx="2194560" cy="361188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960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vs Long-term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66560" y="1325880"/>
            <a:ext cx="164592" cy="1645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95160" y="13075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MVP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66560" y="1600200"/>
            <a:ext cx="164592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15819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Expansión futura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66560" y="1920240"/>
            <a:ext cx="20116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adds: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 CRUD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Payment Service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Tracking Service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Locale Service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ARQUITECTÓNICA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NO monolítico? ¿Por qué microservicios?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25880"/>
          <a:ext cx="8595360" cy="320040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33832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Criterio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Monolítico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Microservicios 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Escalabilidad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❌ Escala todo junto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77B6"/>
                          </a:solidFill>
                        </a:rPr>
                        <a:t>✅ Escala por servicio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Despliegue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❌ Un fallo = todo cae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77B6"/>
                          </a:solidFill>
                        </a:rPr>
                        <a:t>✅ Fallos aislados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Velocidad inicial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✅ Más rápido al inicio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77B6"/>
                          </a:solidFill>
                        </a:rPr>
                        <a:t>⚠️ Setup inicial mayor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Mantenimiento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❌ Código acoplado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77B6"/>
                          </a:solidFill>
                        </a:rPr>
                        <a:t>✅ Dominios independientes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Equipo pequeño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</a:rPr>
                        <a:t>⚠️ Puede funcionar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77B6"/>
                          </a:solidFill>
                        </a:rPr>
                        <a:t>✅ Dominios paralelos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E0F7F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463600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"Mix of 3-tier divided by usage + microservices by domain = loose coupling + fast delivery" — Diego Garate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&amp; WORKFLOW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84048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0" cy="4114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+ KANBAN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de 2 semanas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Retro por mes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Demo por sprint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Planning: 1 día antes del sprint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Grooming: 3 días antes del sprint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Daily: al mediodía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para tracking de progreso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114800" cy="384048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14400"/>
            <a:ext cx="411480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914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CI/CD PIPELINE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92040" y="1463040"/>
            <a:ext cx="109728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463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89320" y="1691640"/>
            <a:ext cx="22860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463040"/>
            <a:ext cx="1097280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463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0" y="1691640"/>
            <a:ext cx="22860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43800" y="1463040"/>
            <a:ext cx="109728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43800" y="1463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20116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CD automático hasta Gamma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Prod requiere aprobación manual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260604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Mainline trunk-based development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sin peer review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Ramas locales OK — no en servidor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+ Integration tests obligatorios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deploys en fin de semana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EL DISEÑO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 — lecciones para el curso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206240" cy="118872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73152" cy="11887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0058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Autenticación &amp; Autorización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3716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de Auth/Autho separados por tipo de usuario (cliente vs agente). Principio de mínimo privilegio.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914400"/>
            <a:ext cx="4206240" cy="118872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14400"/>
            <a:ext cx="73152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10058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HTTPS en todos los canales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73752" y="13716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cifrada obligatoria entre cliente y servidor, y entre microservicios internos.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240280"/>
            <a:ext cx="4206240" cy="118872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240280"/>
            <a:ext cx="73152" cy="11887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331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Testing de seguridad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" y="26974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pruebas: Unit, Functional, Integration. Error logging + monitoreo de condiciones de falla.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240280"/>
            <a:ext cx="4206240" cy="118872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240280"/>
            <a:ext cx="73152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331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Evaluación de riesgos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73752" y="26974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políticas del cliente para evaluar riesgos de seguridad. Comunicar y mitigar antes de producción.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566160"/>
            <a:ext cx="4206240" cy="118872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566160"/>
            <a:ext cx="73152" cy="11887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6576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Consideraciones transversales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8912" y="40233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Internacionalización, accesibilidad (lectores de pantalla, texto alternativo, estructura secuencial).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3566160"/>
            <a:ext cx="4206240" cy="118872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566160"/>
            <a:ext cx="73152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36576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Métricas del experimento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73752" y="40233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KPIs antes de construir: ¿qué datos recolectamos? ¿cuándo es exitoso el prototipo?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077B6">
              <a:alpha val="15000"/>
            </a:srgbClr>
          </a:solidFill>
          <a:ln w="12700">
            <a:solidFill>
              <a:srgbClr val="0077B6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457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DEL DISEÑO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417320" cy="9144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Stakeholders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74520" y="1463040"/>
            <a:ext cx="27432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1005840"/>
            <a:ext cx="1417320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8840" y="100584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66160" y="1463040"/>
            <a:ext cx="27432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0" y="1005840"/>
            <a:ext cx="1417320" cy="9144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100584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Reqs. No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57800" y="1463040"/>
            <a:ext cx="27432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32120" y="1005840"/>
            <a:ext cx="1417320" cy="9144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100584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Nivel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49440" y="1463040"/>
            <a:ext cx="27432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23760" y="1005840"/>
            <a:ext cx="1417320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100584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vs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 del curso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2697480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2670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requerimientos PRIMERO — sin ellos el diseño no tiene dirección.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3172968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3145536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diseño arquitectónico es una decisión con trade-offs, no hay respuesta única.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3648456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362102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Design: la seguridad se diseña, no se agrega al final.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" y="4123944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409651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≠ producto final — experimentar rápido para aprender rápido.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0" y="4800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  |  Desarrollo Seguro  |  Diego Garate  |  2025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DIAGRAMA DE 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0"/>
            <a:ext cx="8503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0B4D8"/>
                </a:solidFill>
                <a:latin typeface="Calibri"/>
              </a:rPr>
              <a:t>Diseñado con draw.io (diagrams.net)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rch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7301" y="868680"/>
            <a:ext cx="3789397" cy="38404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4828032"/>
            <a:ext cx="8686800" cy="315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B4D8"/>
                </a:solidFill>
                <a:latin typeface="Calibri"/>
              </a:rPr>
              <a:t>Herramienta: draw.io (diagrams.net)  •  diagrams.net  |  Gratuita y open source  •  Íconos AWS integrados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3858" y="960120"/>
            <a:ext cx="2357261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95298" y="1097280"/>
            <a:ext cx="109728" cy="256032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78178" y="1069848"/>
            <a:ext cx="199150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  <a:latin typeface="Calibri"/>
              </a:rPr>
              <a:t>Client Side Tier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95298" y="1508760"/>
            <a:ext cx="109728" cy="25603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8178" y="1481328"/>
            <a:ext cx="199150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  <a:latin typeface="Calibri"/>
              </a:rPr>
              <a:t>Server Side Tier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95298" y="1920240"/>
            <a:ext cx="109728" cy="2560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78178" y="1892807"/>
            <a:ext cx="199150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2A"/>
                </a:solidFill>
                <a:latin typeface="Calibri"/>
              </a:rPr>
              <a:t>Data Mgmt Tier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5298" y="2331720"/>
            <a:ext cx="217438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Calibri"/>
              </a:rPr>
              <a:t>🔑 Auth/Autho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5298" y="2679191"/>
            <a:ext cx="217438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Calibri"/>
              </a:rPr>
              <a:t>⚖️  Gateway + WLB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5298" y="3026663"/>
            <a:ext cx="217438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Calibri"/>
              </a:rPr>
              <a:t>📦 3 dominios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5298" y="3374136"/>
            <a:ext cx="217438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Calibri"/>
              </a:rPr>
              <a:t>📨 Message Broker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5298" y="3721608"/>
            <a:ext cx="217438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Calibri"/>
              </a:rPr>
              <a:t>🚚 Delivery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5298" y="4069079"/>
            <a:ext cx="217438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568"/>
                </a:solidFill>
                <a:latin typeface="Calibri"/>
              </a:rPr>
              <a:t>🗄️  RDB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Diseño de Software Seguro - Bain Challenge</dc:title>
  <dc:subject>PptxGenJS Presentation</dc:subject>
  <dc:creator>PptxGenJS</dc:creator>
  <cp:lastModifiedBy>PptxGenJS</cp:lastModifiedBy>
  <cp:revision>1</cp:revision>
  <dcterms:created xsi:type="dcterms:W3CDTF">2026-04-20T19:28:09Z</dcterms:created>
  <dcterms:modified xsi:type="dcterms:W3CDTF">2026-04-20T19:28:09Z</dcterms:modified>
</cp:coreProperties>
</file>