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00784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51176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01568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251960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1148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1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Desarrollo Seguro de Software — UPC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10058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CI/CD Pipeline</a:t>
            </a:r>
            <a:endParaRPr lang="en-US" sz="5800" dirty="0"/>
          </a:p>
        </p:txBody>
      </p:sp>
      <p:sp>
        <p:nvSpPr>
          <p:cNvPr id="22" name="Text 20"/>
          <p:cNvSpPr/>
          <p:nvPr/>
        </p:nvSpPr>
        <p:spPr>
          <a:xfrm>
            <a:off x="457200" y="18745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desde cero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57200" y="2697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Trunk-Based Development · GitHub Actions · Docker · Render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GitHub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329184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1F2937"/>
          </a:solidFill>
          <a:ln/>
        </p:spPr>
      </p:sp>
      <p:sp>
        <p:nvSpPr>
          <p:cNvPr id="27" name="Text 25"/>
          <p:cNvSpPr/>
          <p:nvPr/>
        </p:nvSpPr>
        <p:spPr>
          <a:xfrm>
            <a:off x="237744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GitHub Actions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97680" y="329184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0369A1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Docker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329184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Render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0" y="73152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0" y="731520"/>
            <a:ext cx="3383280" cy="32004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4" name="Text 32"/>
          <p:cNvSpPr/>
          <p:nvPr/>
        </p:nvSpPr>
        <p:spPr>
          <a:xfrm>
            <a:off x="5532120" y="749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● ● ●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5216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.github/workflows/ci.yml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23560" y="1170432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CI/CD Pipeline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</a:t>
            </a:r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[push]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
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</a:t>
            </a:r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ubuntu-latest
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deploy-dev: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</a:t>
            </a:r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
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deploy-prod: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</a:t>
            </a:r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deploy-dev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Diego Garate  ·  Laboratorio CI/CD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 del Workshop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90 minutos · hands-on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64008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98448"/>
            <a:ext cx="329184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435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10 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¿Qué es CI/CD y por qué importa en software seguro?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38528"/>
            <a:ext cx="85039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38528"/>
            <a:ext cx="64008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048256"/>
            <a:ext cx="329184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1993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10 min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22128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Arquitectura del pipeline: Trunk-Based Development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88336"/>
            <a:ext cx="85039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688336"/>
            <a:ext cx="64008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2798064"/>
            <a:ext cx="329184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743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10 min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29626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Herramientas del stack: GitHub → Actions → Docker → Render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438144"/>
            <a:ext cx="85039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438144"/>
            <a:ext cx="64008" cy="6217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3547872"/>
            <a:ext cx="329184" cy="32918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50 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" y="37124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Hands-on: construimos el pipeline paso a paso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87952"/>
            <a:ext cx="85039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187952"/>
            <a:ext cx="64008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4297680"/>
            <a:ext cx="329184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4242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10 min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0120" y="44622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Cierre: integración con sus proyectos + Q&amp;A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¿Qué es CI/CD?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CI — Integración Continua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Cada push al repositorio dispara el pipeline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8836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Se instalan dependencias automáticamente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Se ejecutan los tests (unitarios, integración)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6883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Se corre análisis de seguridad estático (SAST)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Si algo falla → el pipeline se detiene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11480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14400"/>
            <a:ext cx="411480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CD — Despliegue Continuo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Si el CI pasa → deploy automático a Desarrollo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18836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Se ejecutan smoke tests en el servidor Dev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286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Si los smoke tests pasan → deploy a Producción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6883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Sin intervención manual en el flujo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La calidad del código es el guardián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2606040"/>
            <a:ext cx="2743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24871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262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</a:rPr>
              <a:t>🔑  En Desarrollo Seguro: la seguridad no se añade al final — se verifica automáticamente en cada commit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Trunk-Based Development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</a:rPr>
              <a:t>Así trabajan Amazon, Google, Netflix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22860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228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🛒 Experiencia Amazon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rama:  main  (única rama)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48740"/>
            <a:ext cx="8229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1225296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2624328" y="1225296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4270248" y="1225296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Shape 11"/>
          <p:cNvSpPr/>
          <p:nvPr/>
        </p:nvSpPr>
        <p:spPr>
          <a:xfrm>
            <a:off x="5916168" y="1225296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7562088" y="1225296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600200"/>
            <a:ext cx="0" cy="320040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005840" y="1874520"/>
            <a:ext cx="2286000" cy="475488"/>
          </a:xfrm>
          <a:prstGeom prst="rect">
            <a:avLst/>
          </a:prstGeom>
          <a:solidFill>
            <a:srgbClr val="161B2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1920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1. Tests + SAST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57400" y="23500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2606040"/>
            <a:ext cx="2286000" cy="475488"/>
          </a:xfrm>
          <a:prstGeom prst="rect">
            <a:avLst/>
          </a:prstGeom>
          <a:solidFill>
            <a:srgbClr val="161B22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651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2. Build Docker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57400" y="308152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" y="3337560"/>
            <a:ext cx="2286000" cy="475488"/>
          </a:xfrm>
          <a:prstGeom prst="rect">
            <a:avLst/>
          </a:prstGeom>
          <a:solidFill>
            <a:srgbClr val="161B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383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3. Deploy Dev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57400" y="381304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5840" y="3840480"/>
            <a:ext cx="2286000" cy="475488"/>
          </a:xfrm>
          <a:prstGeom prst="rect">
            <a:avLst/>
          </a:prstGeom>
          <a:solidFill>
            <a:srgbClr val="161B2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886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4. Smoke Tests Dev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57400" y="431596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05840" y="4343400"/>
            <a:ext cx="2286000" cy="475488"/>
          </a:xfrm>
          <a:prstGeom prst="rect">
            <a:avLst/>
          </a:prstGeom>
          <a:solidFill>
            <a:srgbClr val="161B22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4389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5. Deploy Prod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66160" y="1874520"/>
            <a:ext cx="521208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19202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¿Qué pasa si algo falla?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03320" y="23957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Tests fallan → pipeline se detiene en CI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703320" y="3017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SAST detecta vulnerabilidad → no llega a Dev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03320" y="36393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Smoke test falla en Dev → no llega a Prod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703320" y="42611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Todo verde → Prod actualizado automáticamente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566160" y="4645152"/>
            <a:ext cx="521208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0" y="4645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</a:rPr>
              <a:t>La rama main siempre debe estar lista para producción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 4 herramientas del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100% gratuitas · estándar de la industria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1783080"/>
          </a:xfrm>
          <a:prstGeom prst="rect">
            <a:avLst/>
          </a:prstGeom>
          <a:solidFill>
            <a:srgbClr val="24292E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1783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61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Repositorio de código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801368"/>
            <a:ext cx="3749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745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Estándar mundial. Gratis para repos públicos y privados (hasta 3 colaboradores). Donde vive todo el código.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20624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64008" cy="1783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61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490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Motor del pipeline CI/CD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0" y="1801368"/>
            <a:ext cx="3749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8745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Nativo en GitHub. Archivos YAML simples. 2,000 min/mes gratis. El más demandado en ofertas de trabajo.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2062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17520"/>
            <a:ext cx="64008" cy="178308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27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3456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Empaquetado de la app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767328"/>
            <a:ext cx="3749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40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Garantiza que la app corre igual en Dev y Prod. Elimina el 'funciona en mi máquina'. Gratis y universal.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420624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017520"/>
            <a:ext cx="64008" cy="1783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127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3456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Servidores Dev y Producción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37760" y="3767328"/>
            <a:ext cx="3749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840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Deploy automático desde GitHub. Plan gratuito para 2 servicios. Sin configurar servidores. Ideal para proyectos universitarios.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 →  Actions  →  Docker  →  Render (Dev)  →  Render (Prod)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 del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46304" y="777240"/>
            <a:ext cx="1170432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" y="83210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" y="123444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</a:rPr>
              <a:t>git push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</a:rPr>
              <a:t>main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16736" y="112471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26464" y="777240"/>
            <a:ext cx="1170432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26464" y="83210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26464" y="123444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GitHub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Actions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96896" y="112471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06624" y="777240"/>
            <a:ext cx="1170432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83210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06624" y="123444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Tests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+ SAST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77056" y="112471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86784" y="777240"/>
            <a:ext cx="1170432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86784" y="83210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86784" y="123444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96ED"/>
                </a:solidFill>
              </a:rPr>
              <a:t>Build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496ED"/>
                </a:solidFill>
              </a:rPr>
              <a:t>Docker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57216" y="112471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66944" y="777240"/>
            <a:ext cx="1170432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83210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▶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66944" y="123444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Deploy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Dev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37376" y="112471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47104" y="777240"/>
            <a:ext cx="1170432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83210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🩺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47104" y="123444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Smoke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Test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17536" y="112471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27264" y="777240"/>
            <a:ext cx="1170432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27264" y="83210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827264" y="123444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Deploy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Prod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2057400"/>
            <a:ext cx="4023360" cy="2606040"/>
          </a:xfrm>
          <a:prstGeom prst="rect">
            <a:avLst/>
          </a:prstGeom>
          <a:solidFill>
            <a:srgbClr val="161B22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2057400"/>
            <a:ext cx="402336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2057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🖥  Servidor Desarrollo (Dev)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2560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URL: miapp-dev.onrender.com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29626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Render — Plan gratuito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Recibe todo push que pase el CI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3767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Smoke tests corren aquí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1696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Entorno de pruebas real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057400"/>
            <a:ext cx="4023360" cy="2606040"/>
          </a:xfrm>
          <a:prstGeom prst="rect">
            <a:avLst/>
          </a:prstGeom>
          <a:solidFill>
            <a:srgbClr val="161B22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2057400"/>
            <a:ext cx="402336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2057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🚀  Servidor Producción (Prod)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0" y="2560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URL: miapp.onrender.com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37760" y="29626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Render — Plan gratuito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Solo recibe código probado en Dev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37760" y="3767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Requiere que smoke tests pasen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37760" y="41696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Lo que ven los usuarios finales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61688" y="306324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Smoke tests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✓ pasan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361688" y="361188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Seguridad en el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Por qué encaja perfecto en este curso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Herramientas SAST que usaremos: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02920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64008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545336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5453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Detecta: hardcoded passwords, SQL injection, uso inseguro de eval(), subprocess con shell=True y más.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502920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926080"/>
            <a:ext cx="64008" cy="1371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ESLint + eslint-plugin-security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37560" y="3054096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30540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JavaScript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34290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Detecta: uso de eval(), regex inseguras, prototype pollution, variables no declaradas.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005840"/>
            <a:ext cx="33375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1005840"/>
            <a:ext cx="3337560" cy="32004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10241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security-check.yml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77840" y="1389888"/>
            <a:ext cx="3154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security: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</a:t>
            </a:r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</a:t>
            </a:r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uses: </a:t>
            </a:r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Python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</a:t>
            </a:r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run: </a:t>
            </a:r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
</a:t>
            </a:r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pip install bandit
</a:t>
            </a:r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bandit -r . \
</a:t>
            </a:r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-ll -ii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JavaScript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</a:t>
            </a:r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ESLint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run: </a:t>
            </a:r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
</a:t>
            </a:r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npm install
</a:t>
            </a:r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npx eslint 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502920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Si Bandit o ESLint encuentran vulnerabilidades → el pipeline se detiene. No llega a Dev.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Estructura del Proyecto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Lo que van a crear hoy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23360" cy="3977640"/>
          </a:xfrm>
          <a:prstGeom prst="rect">
            <a:avLst/>
          </a:prstGeom>
          <a:solidFill>
            <a:srgbClr val="161B22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02336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🐍  Python / Flask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mi-proyecto/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1773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" y="24323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Dockerfile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" y="2761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.dockerignore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3090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05256" y="34198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test_app.py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.github/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5256" y="40782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workflows/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" y="4407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ci.yml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960120"/>
            <a:ext cx="4023360" cy="3977640"/>
          </a:xfrm>
          <a:prstGeom prst="rect">
            <a:avLst/>
          </a:prstGeom>
          <a:solidFill>
            <a:srgbClr val="161B22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960120"/>
            <a:ext cx="402336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⚡  Node.js / Express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mi-proyecto/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84648" y="1773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app.js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84648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package.json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84648" y="24323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.eslintrc.json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84648" y="2761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Dockerfile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84648" y="3090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.dockerignore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84648" y="34198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85816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app.test.js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84648" y="40782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.github/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85816" y="4407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workflows/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86984" y="4736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ci.yml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Hands-on: 6 pasos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Siguen la guía impresa / PDF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1170432"/>
          </a:xfrm>
          <a:prstGeom prst="rect">
            <a:avLst/>
          </a:prstGeom>
          <a:solidFill>
            <a:srgbClr val="161B2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12801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75488" cy="1170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8988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11556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Crear repo en GitHub y subir el código base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1883664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8836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⏱ 5 min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206240" cy="1170432"/>
          </a:xfrm>
          <a:prstGeom prst="rect">
            <a:avLst/>
          </a:prstGeom>
          <a:solidFill>
            <a:srgbClr val="161B2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12801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75488" cy="1170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8988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111556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Crear el Dockerfile y verificar build local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49240" y="1883664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8836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⏱ 8 min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2331720"/>
            <a:ext cx="4206240" cy="1170432"/>
          </a:xfrm>
          <a:prstGeom prst="rect">
            <a:avLst/>
          </a:prstGeom>
          <a:solidFill>
            <a:srgbClr val="161B22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6060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320040" y="2331720"/>
            <a:ext cx="475488" cy="1170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71576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244144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Escribir el primer workflow en .github/workflows/ci.yml (tests + SAST)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" y="3209544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20954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⏱ 12 min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54880" y="2331720"/>
            <a:ext cx="4206240" cy="1170432"/>
          </a:xfrm>
          <a:prstGeom prst="rect">
            <a:avLst/>
          </a:prstGeom>
          <a:solidFill>
            <a:srgbClr val="161B22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26060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4754880" y="2331720"/>
            <a:ext cx="475488" cy="1170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71576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244144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Crear los 2 servicios en Render (Dev y Prod) y obtener API keys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49240" y="3209544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5349240" y="320954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⏱ 8 min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3657600"/>
            <a:ext cx="4206240" cy="1170432"/>
          </a:xfrm>
          <a:prstGeom prst="rect">
            <a:avLst/>
          </a:prstGeom>
          <a:solidFill>
            <a:srgbClr val="161B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39319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3600" dirty="0"/>
          </a:p>
        </p:txBody>
      </p:sp>
      <p:sp>
        <p:nvSpPr>
          <p:cNvPr id="35" name="Shape 33"/>
          <p:cNvSpPr/>
          <p:nvPr/>
        </p:nvSpPr>
        <p:spPr>
          <a:xfrm>
            <a:off x="320040" y="3657600"/>
            <a:ext cx="475488" cy="11704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0416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4400" y="376732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Agregar Deploy Dev + Smoke Test + Deploy Prod al workflow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14400" y="4535424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45354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⏱ 12 min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0" y="3657600"/>
            <a:ext cx="4206240" cy="1170432"/>
          </a:xfrm>
          <a:prstGeom prst="rect">
            <a:avLst/>
          </a:prstGeom>
          <a:solidFill>
            <a:srgbClr val="161B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01000" y="39319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3600" dirty="0"/>
          </a:p>
        </p:txBody>
      </p:sp>
      <p:sp>
        <p:nvSpPr>
          <p:cNvPr id="42" name="Shape 40"/>
          <p:cNvSpPr/>
          <p:nvPr/>
        </p:nvSpPr>
        <p:spPr>
          <a:xfrm>
            <a:off x="4754880" y="3657600"/>
            <a:ext cx="475488" cy="11704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0416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49240" y="376732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Hacer un push y ver el pipeline correr en vivo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349240" y="4535424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/>
        </p:spPr>
      </p:sp>
      <p:sp>
        <p:nvSpPr>
          <p:cNvPr id="46" name="Text 44"/>
          <p:cNvSpPr/>
          <p:nvPr/>
        </p:nvSpPr>
        <p:spPr>
          <a:xfrm>
            <a:off x="5349240" y="45354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⏱ 5 min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Total: ~50 minutos de práctica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00784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51176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01568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251960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Lo que lograron hoy: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Pipeline CI/CD completo con GitHub Actions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15361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Análisis de seguridad automático en cada commit (SAST)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21579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Dos servidores reales: Desarrollo y Producción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2779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Trunk-based development como lo usan las Big Tech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8321040" cy="1325880"/>
          </a:xfrm>
          <a:prstGeom prst="rect">
            <a:avLst/>
          </a:prstGeom>
          <a:solidFill>
            <a:srgbClr val="161B22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520440"/>
            <a:ext cx="64008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Tarea para el proyecto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91363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Integrar este pipeline en su proyecto del curso. El pipeline debe incluir los tests del proyecto y al menos un check de seguridad relevante para su stack. Deadline: próxima sesión.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Diego Garate  ·  Desarrollo Seguro de Software  ·  UPC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Pipeline — Workshop</dc:title>
  <dc:subject>PptxGenJS Presentation</dc:subject>
  <dc:creator>PptxGenJS</dc:creator>
  <cp:lastModifiedBy>PptxGenJS</cp:lastModifiedBy>
  <cp:revision>1</cp:revision>
  <dcterms:created xsi:type="dcterms:W3CDTF">2026-04-27T15:50:01Z</dcterms:created>
  <dcterms:modified xsi:type="dcterms:W3CDTF">2026-04-27T15:50:01Z</dcterms:modified>
</cp:coreProperties>
</file>