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5531D-093B-4A6A-8F0C-D8993AC9B808}" v="6" dt="2026-04-06T21:46:41.4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729" autoAdjust="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Garate" userId="6ce5b0a8a87044cc" providerId="LiveId" clId="{3FC3F052-3F8F-42D3-B8EA-956065AA0F0F}"/>
    <pc:docChg chg="undo custSel delSld modSld">
      <pc:chgData name="Diego Garate" userId="6ce5b0a8a87044cc" providerId="LiveId" clId="{3FC3F052-3F8F-42D3-B8EA-956065AA0F0F}" dt="2026-04-06T21:46:45.977" v="209" actId="478"/>
      <pc:docMkLst>
        <pc:docMk/>
      </pc:docMkLst>
      <pc:sldChg chg="modSp mod">
        <pc:chgData name="Diego Garate" userId="6ce5b0a8a87044cc" providerId="LiveId" clId="{3FC3F052-3F8F-42D3-B8EA-956065AA0F0F}" dt="2026-04-06T21:35:17.692" v="83" actId="20577"/>
        <pc:sldMkLst>
          <pc:docMk/>
          <pc:sldMk cId="0" sldId="256"/>
        </pc:sldMkLst>
        <pc:spChg chg="mod">
          <ac:chgData name="Diego Garate" userId="6ce5b0a8a87044cc" providerId="LiveId" clId="{3FC3F052-3F8F-42D3-B8EA-956065AA0F0F}" dt="2026-04-06T21:35:17.692" v="83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4-06T21:35:48.047" v="87" actId="6549"/>
        <pc:sldMkLst>
          <pc:docMk/>
          <pc:sldMk cId="0" sldId="258"/>
        </pc:sldMkLst>
        <pc:spChg chg="mod">
          <ac:chgData name="Diego Garate" userId="6ce5b0a8a87044cc" providerId="LiveId" clId="{3FC3F052-3F8F-42D3-B8EA-956065AA0F0F}" dt="2026-04-06T21:35:48.047" v="87" actId="6549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4-06T21:37:25.868" v="125" actId="20577"/>
        <pc:sldMkLst>
          <pc:docMk/>
          <pc:sldMk cId="0" sldId="259"/>
        </pc:sldMkLst>
        <pc:spChg chg="mod">
          <ac:chgData name="Diego Garate" userId="6ce5b0a8a87044cc" providerId="LiveId" clId="{3FC3F052-3F8F-42D3-B8EA-956065AA0F0F}" dt="2026-04-06T21:37:25.868" v="125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Diego Garate" userId="6ce5b0a8a87044cc" providerId="LiveId" clId="{3FC3F052-3F8F-42D3-B8EA-956065AA0F0F}" dt="2026-04-06T21:37:05.915" v="93" actId="1392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Diego Garate" userId="6ce5b0a8a87044cc" providerId="LiveId" clId="{3FC3F052-3F8F-42D3-B8EA-956065AA0F0F}" dt="2026-04-06T21:37:14.347" v="94" actId="1392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Diego Garate" userId="6ce5b0a8a87044cc" providerId="LiveId" clId="{3FC3F052-3F8F-42D3-B8EA-956065AA0F0F}" dt="2026-04-06T21:36:34.041" v="88" actId="6549"/>
          <ac:spMkLst>
            <pc:docMk/>
            <pc:sldMk cId="0" sldId="259"/>
            <ac:spMk id="23" creationId="{00000000-0000-0000-0000-000000000000}"/>
          </ac:spMkLst>
        </pc:spChg>
      </pc:sldChg>
      <pc:sldChg chg="modSp mod">
        <pc:chgData name="Diego Garate" userId="6ce5b0a8a87044cc" providerId="LiveId" clId="{3FC3F052-3F8F-42D3-B8EA-956065AA0F0F}" dt="2026-04-06T21:39:09.856" v="146" actId="1076"/>
        <pc:sldMkLst>
          <pc:docMk/>
          <pc:sldMk cId="0" sldId="263"/>
        </pc:sldMkLst>
        <pc:spChg chg="mod">
          <ac:chgData name="Diego Garate" userId="6ce5b0a8a87044cc" providerId="LiveId" clId="{3FC3F052-3F8F-42D3-B8EA-956065AA0F0F}" dt="2026-04-06T21:38:43.891" v="145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iego Garate" userId="6ce5b0a8a87044cc" providerId="LiveId" clId="{3FC3F052-3F8F-42D3-B8EA-956065AA0F0F}" dt="2026-04-06T21:39:09.856" v="146" actId="1076"/>
          <ac:spMkLst>
            <pc:docMk/>
            <pc:sldMk cId="0" sldId="263"/>
            <ac:spMk id="31" creationId="{00000000-0000-0000-0000-000000000000}"/>
          </ac:spMkLst>
        </pc:spChg>
      </pc:sldChg>
      <pc:sldChg chg="delSp modSp mod modNotesTx">
        <pc:chgData name="Diego Garate" userId="6ce5b0a8a87044cc" providerId="LiveId" clId="{3FC3F052-3F8F-42D3-B8EA-956065AA0F0F}" dt="2026-04-06T21:46:45.977" v="209" actId="478"/>
        <pc:sldMkLst>
          <pc:docMk/>
          <pc:sldMk cId="0" sldId="264"/>
        </pc:sldMkLst>
        <pc:spChg chg="mod">
          <ac:chgData name="Diego Garate" userId="6ce5b0a8a87044cc" providerId="LiveId" clId="{3FC3F052-3F8F-42D3-B8EA-956065AA0F0F}" dt="2026-04-06T21:41:00.545" v="149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Diego Garate" userId="6ce5b0a8a87044cc" providerId="LiveId" clId="{3FC3F052-3F8F-42D3-B8EA-956065AA0F0F}" dt="2026-04-06T21:46:09.720" v="184" actId="2057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Diego Garate" userId="6ce5b0a8a87044cc" providerId="LiveId" clId="{3FC3F052-3F8F-42D3-B8EA-956065AA0F0F}" dt="2026-04-06T21:41:14.917" v="164" actId="20577"/>
          <ac:spMkLst>
            <pc:docMk/>
            <pc:sldMk cId="0" sldId="264"/>
            <ac:spMk id="11" creationId="{00000000-0000-0000-0000-000000000000}"/>
          </ac:spMkLst>
        </pc:spChg>
        <pc:spChg chg="del mod">
          <ac:chgData name="Diego Garate" userId="6ce5b0a8a87044cc" providerId="LiveId" clId="{3FC3F052-3F8F-42D3-B8EA-956065AA0F0F}" dt="2026-04-06T21:46:45.977" v="209" actId="478"/>
          <ac:spMkLst>
            <pc:docMk/>
            <pc:sldMk cId="0" sldId="264"/>
            <ac:spMk id="12" creationId="{00000000-0000-0000-0000-000000000000}"/>
          </ac:spMkLst>
        </pc:spChg>
        <pc:spChg chg="del">
          <ac:chgData name="Diego Garate" userId="6ce5b0a8a87044cc" providerId="LiveId" clId="{3FC3F052-3F8F-42D3-B8EA-956065AA0F0F}" dt="2026-04-06T21:46:45.977" v="209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Diego Garate" userId="6ce5b0a8a87044cc" providerId="LiveId" clId="{3FC3F052-3F8F-42D3-B8EA-956065AA0F0F}" dt="2026-04-06T21:46:45.977" v="209" actId="478"/>
          <ac:spMkLst>
            <pc:docMk/>
            <pc:sldMk cId="0" sldId="264"/>
            <ac:spMk id="14" creationId="{00000000-0000-0000-0000-000000000000}"/>
          </ac:spMkLst>
        </pc:spChg>
        <pc:spChg chg="del mod">
          <ac:chgData name="Diego Garate" userId="6ce5b0a8a87044cc" providerId="LiveId" clId="{3FC3F052-3F8F-42D3-B8EA-956065AA0F0F}" dt="2026-04-06T21:46:45.977" v="209" actId="478"/>
          <ac:spMkLst>
            <pc:docMk/>
            <pc:sldMk cId="0" sldId="264"/>
            <ac:spMk id="15" creationId="{00000000-0000-0000-0000-000000000000}"/>
          </ac:spMkLst>
        </pc:spChg>
        <pc:spChg chg="del mod">
          <ac:chgData name="Diego Garate" userId="6ce5b0a8a87044cc" providerId="LiveId" clId="{3FC3F052-3F8F-42D3-B8EA-956065AA0F0F}" dt="2026-04-06T21:46:45.977" v="209" actId="478"/>
          <ac:spMkLst>
            <pc:docMk/>
            <pc:sldMk cId="0" sldId="264"/>
            <ac:spMk id="16" creationId="{00000000-0000-0000-0000-000000000000}"/>
          </ac:spMkLst>
        </pc:spChg>
        <pc:spChg chg="del">
          <ac:chgData name="Diego Garate" userId="6ce5b0a8a87044cc" providerId="LiveId" clId="{3FC3F052-3F8F-42D3-B8EA-956065AA0F0F}" dt="2026-04-06T21:46:45.977" v="209" actId="478"/>
          <ac:spMkLst>
            <pc:docMk/>
            <pc:sldMk cId="0" sldId="264"/>
            <ac:spMk id="17" creationId="{00000000-0000-0000-0000-000000000000}"/>
          </ac:spMkLst>
        </pc:spChg>
        <pc:spChg chg="del">
          <ac:chgData name="Diego Garate" userId="6ce5b0a8a87044cc" providerId="LiveId" clId="{3FC3F052-3F8F-42D3-B8EA-956065AA0F0F}" dt="2026-04-06T21:46:45.977" v="209" actId="478"/>
          <ac:spMkLst>
            <pc:docMk/>
            <pc:sldMk cId="0" sldId="264"/>
            <ac:spMk id="18" creationId="{00000000-0000-0000-0000-000000000000}"/>
          </ac:spMkLst>
        </pc:spChg>
        <pc:spChg chg="del">
          <ac:chgData name="Diego Garate" userId="6ce5b0a8a87044cc" providerId="LiveId" clId="{3FC3F052-3F8F-42D3-B8EA-956065AA0F0F}" dt="2026-04-06T21:46:45.977" v="209" actId="478"/>
          <ac:spMkLst>
            <pc:docMk/>
            <pc:sldMk cId="0" sldId="264"/>
            <ac:spMk id="19" creationId="{00000000-0000-0000-0000-000000000000}"/>
          </ac:spMkLst>
        </pc:spChg>
        <pc:spChg chg="del mod">
          <ac:chgData name="Diego Garate" userId="6ce5b0a8a87044cc" providerId="LiveId" clId="{3FC3F052-3F8F-42D3-B8EA-956065AA0F0F}" dt="2026-04-06T21:46:45.977" v="209" actId="478"/>
          <ac:spMkLst>
            <pc:docMk/>
            <pc:sldMk cId="0" sldId="264"/>
            <ac:spMk id="21" creationId="{00000000-0000-0000-0000-000000000000}"/>
          </ac:spMkLst>
        </pc:spChg>
        <pc:spChg chg="del">
          <ac:chgData name="Diego Garate" userId="6ce5b0a8a87044cc" providerId="LiveId" clId="{3FC3F052-3F8F-42D3-B8EA-956065AA0F0F}" dt="2026-04-06T21:46:45.977" v="209" actId="478"/>
          <ac:spMkLst>
            <pc:docMk/>
            <pc:sldMk cId="0" sldId="264"/>
            <ac:spMk id="22" creationId="{00000000-0000-0000-0000-000000000000}"/>
          </ac:spMkLst>
        </pc:spChg>
      </pc:sldChg>
      <pc:sldChg chg="del">
        <pc:chgData name="Diego Garate" userId="6ce5b0a8a87044cc" providerId="LiveId" clId="{3FC3F052-3F8F-42D3-B8EA-956065AA0F0F}" dt="2026-04-06T21:46:03.787" v="169" actId="47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634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B8CA0"/>
                </a:solidFill>
              </a:rPr>
              <a:t>canva.com/design/DAGqWXpu3kI</a:t>
            </a:r>
            <a:endParaRPr lang="en-US" sz="1200" dirty="0"/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6B8CA0"/>
                </a:solidFill>
              </a:rPr>
              <a:t>canva.com/design/</a:t>
            </a:r>
            <a:r>
              <a:rPr lang="en-US" sz="1200" i="1" dirty="0" err="1">
                <a:solidFill>
                  <a:srgbClr val="6B8CA0"/>
                </a:solidFill>
              </a:rPr>
              <a:t>DAGqYYgNjss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6766560" y="-548640"/>
            <a:ext cx="3840480" cy="3840480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2926080" cy="32004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DESARROLLO SEGURO — LABORATORIO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Fase de</a:t>
            </a:r>
            <a:endParaRPr lang="en-US" sz="4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Investigación</a:t>
            </a:r>
            <a:endParaRPr lang="en-US" sz="4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del Problema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00C2A8"/>
                </a:solidFill>
              </a:rPr>
              <a:t>Ejemplos de proyectos finales de ciclos anteriores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029200" cy="0"/>
          </a:xfrm>
          <a:prstGeom prst="line">
            <a:avLst/>
          </a:prstGeom>
          <a:noFill/>
          <a:ln w="12700">
            <a:solidFill>
              <a:srgbClr val="6B8CA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8E4"/>
                </a:solidFill>
              </a:rPr>
              <a:t>Universidad Peruana de </a:t>
            </a:r>
            <a:r>
              <a:rPr lang="en-US" sz="1100" dirty="0" err="1">
                <a:solidFill>
                  <a:srgbClr val="C8D8E4"/>
                </a:solidFill>
              </a:rPr>
              <a:t>Ciencias</a:t>
            </a:r>
            <a:r>
              <a:rPr lang="en-US" sz="1100" dirty="0">
                <a:solidFill>
                  <a:srgbClr val="C8D8E4"/>
                </a:solidFill>
              </a:rPr>
              <a:t> </a:t>
            </a:r>
            <a:r>
              <a:rPr lang="en-US" sz="1100" dirty="0" err="1">
                <a:solidFill>
                  <a:srgbClr val="C8D8E4"/>
                </a:solidFill>
              </a:rPr>
              <a:t>Aplicadas</a:t>
            </a:r>
            <a:r>
              <a:rPr lang="en-US" sz="1100" dirty="0">
                <a:solidFill>
                  <a:srgbClr val="C8D8E4"/>
                </a:solidFill>
              </a:rPr>
              <a:t> - Ingeniería de Ciberseguridad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¿Qué hacemos en este laboratorio?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8229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51760" cy="8229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Identificar el problema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1737360" cy="0"/>
          </a:xfrm>
          <a:prstGeom prst="line">
            <a:avLst/>
          </a:prstGeom>
          <a:noFill/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8CA0"/>
                </a:solidFill>
              </a:rPr>
              <a:t>Entender a profundidad el contexto, causas y efectos del problema que la aplicación va a resolver.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651760" cy="8229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320040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3756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Sustentar con evidencia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2697480"/>
            <a:ext cx="1737360" cy="0"/>
          </a:xfrm>
          <a:prstGeom prst="line">
            <a:avLst/>
          </a:prstGeom>
          <a:noFill/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3337560" y="2788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8CA0"/>
                </a:solidFill>
              </a:rPr>
              <a:t>Apoyar la problemática con datos reales, estadísticas, noticias o estudios previos relevantes.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23444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6080760" y="1234440"/>
            <a:ext cx="2651760" cy="8229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608076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21792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Proponer la solución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2697480"/>
            <a:ext cx="1737360" cy="0"/>
          </a:xfrm>
          <a:prstGeom prst="line">
            <a:avLst/>
          </a:prstGeom>
          <a:noFill/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6217920" y="2788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8CA0"/>
                </a:solidFill>
              </a:rPr>
              <a:t>Definir una solución tecnológica clara y justificada que responda directamente al problema identificado.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C2A8"/>
                </a:solidFill>
              </a:rPr>
              <a:t>A continuación verás ejemplos reales de ciclos anteriores para inspirarte en tu propia investigación.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949440" y="91440"/>
            <a:ext cx="2926080" cy="29260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5C2A"/>
                </a:solidFill>
              </a:rPr>
              <a:t>PROYECTO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PetMatch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8D8E4"/>
                </a:solidFill>
              </a:rPr>
              <a:t>"La app que conecta adopciones responsables y refugios."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4572000" cy="0"/>
          </a:xfrm>
          <a:prstGeom prst="line">
            <a:avLst/>
          </a:prstGeom>
          <a:noFill/>
          <a:ln w="254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CA0"/>
                </a:solidFill>
              </a:rPr>
              <a:t>Equipo: AppGoddess Team  ·  Herramienta: App Inventor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4"/>
                </a:solidFill>
              </a:rPr>
              <a:t>Caballero Lara · </a:t>
            </a:r>
            <a:r>
              <a:rPr lang="en-US" sz="1200" dirty="0" err="1">
                <a:solidFill>
                  <a:srgbClr val="C8D8E4"/>
                </a:solidFill>
              </a:rPr>
              <a:t>Urpeque</a:t>
            </a:r>
            <a:r>
              <a:rPr lang="en-US" sz="1200" dirty="0">
                <a:solidFill>
                  <a:srgbClr val="C8D8E4"/>
                </a:solidFill>
              </a:rPr>
              <a:t> Tito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2296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PetMatch — Investigación del Problema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5C2A"/>
                </a:solidFill>
              </a:rPr>
              <a:t>EL PROBLEMA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</a:rPr>
              <a:t>El abandono de mascotas</a:t>
            </a:r>
            <a:r>
              <a:rPr lang="en-US" sz="1300" dirty="0">
                <a:solidFill>
                  <a:srgbClr val="0F1B2D"/>
                </a:solidFill>
              </a:rPr>
              <a:t> se ha incrementado generando sobrepoblación en albergues y riesgos para la salud pública de Lima.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3931920" cy="658368"/>
          </a:xfrm>
          <a:prstGeom prst="rect">
            <a:avLst/>
          </a:prstGeom>
          <a:solidFill>
            <a:srgbClr val="EEF4F7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C2A"/>
                </a:solidFill>
              </a:rPr>
              <a:t>+6M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774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2D"/>
                </a:solidFill>
              </a:rPr>
              <a:t>perros callejeros en Perú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27248"/>
            <a:ext cx="3931920" cy="658368"/>
          </a:xfrm>
          <a:prstGeom prst="rect">
            <a:avLst/>
          </a:prstGeom>
          <a:solidFill>
            <a:srgbClr val="EEF4F7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C2A"/>
                </a:solidFill>
              </a:rPr>
              <a:t>70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12724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2D"/>
                </a:solidFill>
              </a:rPr>
              <a:t>albergues en Lima, muchos al límite de capacidad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77056"/>
            <a:ext cx="3931920" cy="658368"/>
          </a:xfrm>
          <a:prstGeom prst="rect">
            <a:avLst/>
          </a:prstGeom>
          <a:solidFill>
            <a:srgbClr val="EEF4F7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502920" y="3877056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C2A"/>
                </a:solidFill>
              </a:rPr>
              <a:t>46%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387705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2D"/>
                </a:solidFill>
              </a:rPr>
              <a:t>de jóvenes prefiere comprar vs. adoptar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114800" cy="3566160"/>
          </a:xfrm>
          <a:prstGeom prst="rect">
            <a:avLst/>
          </a:prstGeom>
          <a:solidFill>
            <a:srgbClr val="EEF4F7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4114800" cy="64008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480060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C2A"/>
                </a:solidFill>
              </a:rPr>
              <a:t>SOLUCIONES PROPUESTA/TECNOLOGÍA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14447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C2A"/>
                </a:solidFill>
              </a:rPr>
              <a:t>1.  </a:t>
            </a:r>
            <a:r>
              <a:rPr lang="en-US" sz="1200" dirty="0">
                <a:solidFill>
                  <a:srgbClr val="0F1B2D"/>
                </a:solidFill>
              </a:rPr>
              <a:t>Aplicación móvil (App Inventor) como plataforma de difusión para refugios de animales.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1305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C2A"/>
                </a:solidFill>
                <a:highlight>
                  <a:srgbClr val="FFFF00"/>
                </a:highlight>
              </a:rPr>
              <a:t>2.  </a:t>
            </a:r>
            <a:r>
              <a:rPr lang="en-US" sz="1200" dirty="0">
                <a:solidFill>
                  <a:srgbClr val="0F1B2D"/>
                </a:solidFill>
                <a:highlight>
                  <a:srgbClr val="FFFF00"/>
                </a:highlight>
              </a:rPr>
              <a:t>Centraliza información de mascotas disponibles para adopción en Lima.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00600" y="28163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C2A"/>
                </a:solidFill>
              </a:rPr>
              <a:t>3.  </a:t>
            </a:r>
            <a:r>
              <a:rPr lang="en-US" sz="1200" dirty="0">
                <a:solidFill>
                  <a:srgbClr val="0F1B2D"/>
                </a:solidFill>
              </a:rPr>
              <a:t>Concientiza a la población sobre el problema del abandono animal.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5021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C2A"/>
                </a:solidFill>
                <a:highlight>
                  <a:srgbClr val="FFFF00"/>
                </a:highlight>
              </a:rPr>
              <a:t>4.  </a:t>
            </a:r>
            <a:r>
              <a:rPr lang="en-US" sz="1200" dirty="0" err="1">
                <a:solidFill>
                  <a:srgbClr val="0F1B2D"/>
                </a:solidFill>
                <a:highlight>
                  <a:srgbClr val="FFFF00"/>
                </a:highlight>
              </a:rPr>
              <a:t>Facilitar</a:t>
            </a:r>
            <a:r>
              <a:rPr lang="en-US" sz="1200" dirty="0">
                <a:solidFill>
                  <a:srgbClr val="0F1B2D"/>
                </a:solidFill>
                <a:highlight>
                  <a:srgbClr val="FFFF00"/>
                </a:highlight>
              </a:rPr>
              <a:t> el contacto entre adoptantes y albergues de manera responsable.</a:t>
            </a:r>
            <a:endParaRPr lang="en-US" sz="1200" dirty="0">
              <a:highlight>
                <a:srgbClr val="FFFF00"/>
              </a:highlight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CA0"/>
                </a:solidFill>
              </a:rPr>
              <a:t>Fuentes: Ipsos · Best Friends Animal Society · Voz Animal Perú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949440" y="91440"/>
            <a:ext cx="2926080" cy="29260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8A4E"/>
                </a:solidFill>
              </a:rPr>
              <a:t>PROYECTO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Organizador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de Tiempo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D8E4"/>
                </a:solidFill>
              </a:rPr>
              <a:t>Herramienta de gestión académica para estudiantes universitarios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572000" cy="0"/>
          </a:xfrm>
          <a:prstGeom prst="line">
            <a:avLst/>
          </a:prstGeom>
          <a:noFill/>
          <a:ln w="25400">
            <a:solidFill>
              <a:srgbClr val="2D8A4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CA0"/>
                </a:solidFill>
              </a:rPr>
              <a:t>Equipo: Alexandra Quispe · Héctor Narrea  ·  Herramienta: Visual Basic / Windows Forms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22960"/>
          </a:xfrm>
          <a:prstGeom prst="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Organizador de Tiempo — Investigación del Problema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520440"/>
          </a:xfrm>
          <a:prstGeom prst="rect">
            <a:avLst/>
          </a:prstGeom>
          <a:solidFill>
            <a:srgbClr val="EEF4F7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31920" cy="64008"/>
          </a:xfrm>
          <a:prstGeom prst="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8A4E"/>
                </a:solidFill>
              </a:rPr>
              <a:t>EL PROBLEMA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B2D"/>
                </a:solidFill>
              </a:rPr>
              <a:t>Muchos estudiantes universitarios tienen dificultades para organizar sus actividades diarias: desorden, poca claridad de prioridades y manejo ineficiente del tiempo.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8A4E"/>
                </a:solidFill>
              </a:rPr>
              <a:t>87.5%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83080" y="25603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B2D"/>
                </a:solidFill>
              </a:rPr>
              <a:t>presenta procrastinación académica (estudio en Ica, n=280)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218688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548640" y="321868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8A4E"/>
                </a:solidFill>
              </a:rPr>
              <a:t>73.6%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B2D"/>
                </a:solidFill>
              </a:rPr>
              <a:t>muestra postergación habitual de actividades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877056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548640" y="387705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8A4E"/>
                </a:solidFill>
              </a:rPr>
              <a:t>70–95%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38770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B2D"/>
                </a:solidFill>
              </a:rPr>
              <a:t>de universitarios afectados por procrastinación (Ferrari, 2020)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114800" cy="3520440"/>
          </a:xfrm>
          <a:prstGeom prst="rect">
            <a:avLst/>
          </a:prstGeom>
          <a:solidFill>
            <a:srgbClr val="EEF4F7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4114800" cy="64008"/>
          </a:xfrm>
          <a:prstGeom prst="rect">
            <a:avLst/>
          </a:prstGeom>
          <a:solidFill>
            <a:srgbClr val="2D8A4E"/>
          </a:solidFill>
          <a:ln w="12700">
            <a:solidFill>
              <a:srgbClr val="2D8A4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480060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8A4E"/>
                </a:solidFill>
              </a:rPr>
              <a:t>SOLUCIÓN: 10-MINUTE PLANNER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508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2D"/>
                </a:solidFill>
              </a:rPr>
              <a:t>📅  Registro de fecha, hora de inicio y curso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947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2D"/>
                </a:solidFill>
              </a:rPr>
              <a:t>⏱  Bloques de 10 a 60 minutos por actividad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38658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2D"/>
                </a:solidFill>
              </a:rPr>
              <a:t>🔴  Niveles de prioridad: Baja / Media / Alta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8254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2D"/>
                </a:solidFill>
              </a:rPr>
              <a:t>✅  Estado de cada tarea: completado, en proceso, aplazado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2644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2D"/>
                </a:solidFill>
              </a:rPr>
              <a:t>🔍  Búsqueda y filtrado de actividades por campo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703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2D"/>
                </a:solidFill>
              </a:rPr>
              <a:t>📝  Sección de meta del día y notas importantes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42062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CA0"/>
                </a:solidFill>
              </a:rPr>
              <a:t>Implementado en Visual Basic / Windows Forms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7B4FAF"/>
          </a:solidFill>
          <a:ln w="12700">
            <a:solidFill>
              <a:srgbClr val="7B4FA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949440" y="91440"/>
            <a:ext cx="2926080" cy="29260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B4FAF"/>
          </a:solidFill>
          <a:ln w="12700">
            <a:solidFill>
              <a:srgbClr val="7B4FA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B4FAF"/>
                </a:solidFill>
              </a:rPr>
              <a:t>PROYECTO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App para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Niños con TDAH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852928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8D8E4"/>
                </a:solidFill>
              </a:rPr>
              <a:t>Juegos cognitivos como soporte terapéutico para el trastorno por déficit de atención e hiperactividad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4572000" cy="0"/>
          </a:xfrm>
          <a:prstGeom prst="line">
            <a:avLst/>
          </a:prstGeom>
          <a:noFill/>
          <a:ln w="25400">
            <a:solidFill>
              <a:srgbClr val="7B4FA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CA0"/>
                </a:solidFill>
              </a:rPr>
              <a:t>Equipo: Quevedo Sánchez · Lara Camarena  ·  Herramienta: Juegos digitales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22960"/>
          </a:xfrm>
          <a:prstGeom prst="rect">
            <a:avLst/>
          </a:prstGeom>
          <a:solidFill>
            <a:srgbClr val="7B4FAF"/>
          </a:solidFill>
          <a:ln w="12700">
            <a:solidFill>
              <a:srgbClr val="7B4FA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App TDAH — Investigación del Problema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3520440"/>
          </a:xfrm>
          <a:prstGeom prst="rect">
            <a:avLst/>
          </a:prstGeom>
          <a:solidFill>
            <a:srgbClr val="EEF4F7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931920" cy="64008"/>
          </a:xfrm>
          <a:prstGeom prst="rect">
            <a:avLst/>
          </a:prstGeom>
          <a:solidFill>
            <a:srgbClr val="7B4FAF"/>
          </a:solidFill>
          <a:ln w="12700">
            <a:solidFill>
              <a:srgbClr val="7B4FA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4FAF"/>
                </a:solidFill>
              </a:rPr>
              <a:t>EL PROBLEMA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B2D"/>
                </a:solidFill>
              </a:rPr>
              <a:t>El TDAH afecta entre el 3–7% de niños en edad escolar. Muchos no reciben diagnóstico temprano ni apoyo adecuado, lo que genera problemas de rendimiento académico, comportamiento social y puede derivar en conductas antisociales.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4FAF"/>
                </a:solidFill>
              </a:rPr>
              <a:t>3,300+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83080" y="274320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B2D"/>
                </a:solidFill>
              </a:rPr>
              <a:t>niños atendidos </a:t>
            </a:r>
            <a:r>
              <a:rPr lang="en-US" sz="1000" dirty="0" err="1">
                <a:solidFill>
                  <a:srgbClr val="0F1B2D"/>
                </a:solidFill>
              </a:rPr>
              <a:t>en</a:t>
            </a:r>
            <a:r>
              <a:rPr lang="en-US" sz="1000" dirty="0">
                <a:solidFill>
                  <a:srgbClr val="0F1B2D"/>
                </a:solidFill>
              </a:rPr>
              <a:t> INSN por TDAH en los últimos años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401568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548640" y="340156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4FAF"/>
                </a:solidFill>
              </a:rPr>
              <a:t>4:1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340156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B2D"/>
                </a:solidFill>
              </a:rPr>
              <a:t>mayor prevalencia en varones vs. niñas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059936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548640" y="405993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4FAF"/>
                </a:solidFill>
              </a:rPr>
              <a:t>60–70%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405993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B2D"/>
                </a:solidFill>
              </a:rPr>
              <a:t>de adultos con TDAH presentan trastornos psiquiátricos asociados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114800" cy="3520440"/>
          </a:xfrm>
          <a:prstGeom prst="rect">
            <a:avLst/>
          </a:prstGeom>
          <a:solidFill>
            <a:srgbClr val="EEF4F7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4114800" cy="64008"/>
          </a:xfrm>
          <a:prstGeom prst="rect">
            <a:avLst/>
          </a:prstGeom>
          <a:solidFill>
            <a:srgbClr val="7B4FAF"/>
          </a:solidFill>
          <a:ln w="12700">
            <a:solidFill>
              <a:srgbClr val="7B4FA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480060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4FAF"/>
                </a:solidFill>
              </a:rPr>
              <a:t>SOLUCIÓN PROPUESTA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B2D"/>
                </a:solidFill>
              </a:rPr>
              <a:t>Juegos cognitivos digitales como herramienta de estimulación terapéutica: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01168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4937760" y="2029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4FAF"/>
                </a:solidFill>
              </a:rPr>
              <a:t>🧠 Juegos de memoria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3042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0"/>
                </a:solidFill>
              </a:rPr>
              <a:t>Mejoran funciones cognitivas hasta un 20% en niños. 15 min/día reducen deterioro cognitivo en 30%.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852928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4937760" y="28712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4FAF"/>
                </a:solidFill>
              </a:rPr>
              <a:t>🌀 Laberintos digitales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1455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0"/>
                </a:solidFill>
              </a:rPr>
              <a:t>Mejoran habilidades espaciales y de planificación. Aumentan actividad cerebral hasta 40% con sesiones regulares.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694176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4937760" y="37124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4FAF"/>
                </a:solidFill>
              </a:rPr>
              <a:t>🎯 Enfoque terapéutico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98678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0"/>
                </a:solidFill>
              </a:rPr>
              <a:t>Basado en terapia de estimulación cognitiva a través de dispositivos tecnológicos para control de síntomas.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44439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CA0"/>
                </a:solidFill>
              </a:rPr>
              <a:t>Fuentes: MINSA · PubMed · NIMH · Clínica Barcelona · Elsevier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22960"/>
          </a:xfrm>
          <a:prstGeom prst="rect">
            <a:avLst/>
          </a:prstGeom>
          <a:solidFill>
            <a:srgbClr val="C4960A"/>
          </a:solidFill>
          <a:ln w="12700">
            <a:solidFill>
              <a:srgbClr val="C4960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Proyectos adicionales — Ver en Canva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C4960A"/>
          </a:solidFill>
          <a:ln w="12700">
            <a:solidFill>
              <a:srgbClr val="C4960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F1B2D"/>
                </a:solidFill>
              </a:rPr>
              <a:t>Otros</a:t>
            </a:r>
            <a:r>
              <a:rPr lang="en-US" sz="1400" dirty="0">
                <a:solidFill>
                  <a:srgbClr val="0F1B2D"/>
                </a:solidFill>
              </a:rPr>
              <a:t> </a:t>
            </a:r>
            <a:r>
              <a:rPr lang="en-US" sz="1400" dirty="0" err="1">
                <a:solidFill>
                  <a:srgbClr val="0F1B2D"/>
                </a:solidFill>
              </a:rPr>
              <a:t>proyectos</a:t>
            </a:r>
            <a:r>
              <a:rPr lang="en-US" sz="1400" dirty="0">
                <a:solidFill>
                  <a:srgbClr val="0F1B2D"/>
                </a:solidFill>
              </a:rPr>
              <a:t> </a:t>
            </a:r>
            <a:r>
              <a:rPr lang="en-US" sz="1400" dirty="0" err="1">
                <a:solidFill>
                  <a:srgbClr val="0F1B2D"/>
                </a:solidFill>
              </a:rPr>
              <a:t>están</a:t>
            </a:r>
            <a:r>
              <a:rPr lang="en-US" sz="1400" dirty="0">
                <a:solidFill>
                  <a:srgbClr val="0F1B2D"/>
                </a:solidFill>
              </a:rPr>
              <a:t> disponibles en los siguientes enlaces de Canva.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94360" cy="777240"/>
          </a:xfrm>
          <a:prstGeom prst="rect">
            <a:avLst/>
          </a:prstGeom>
          <a:solidFill>
            <a:srgbClr val="C4960A"/>
          </a:solidFill>
          <a:ln w="12700">
            <a:solidFill>
              <a:srgbClr val="C4960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901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F1B2D"/>
                </a:solidFill>
              </a:rPr>
              <a:t>Ciberacoso</a:t>
            </a:r>
            <a:r>
              <a:rPr lang="en-US" sz="1300" b="1" dirty="0">
                <a:solidFill>
                  <a:srgbClr val="0F1B2D"/>
                </a:solidFill>
              </a:rPr>
              <a:t> (</a:t>
            </a:r>
            <a:r>
              <a:rPr lang="en-US" sz="1300" b="1" dirty="0" err="1">
                <a:solidFill>
                  <a:srgbClr val="0F1B2D"/>
                </a:solidFill>
              </a:rPr>
              <a:t>acceso</a:t>
            </a:r>
            <a:r>
              <a:rPr lang="en-US" sz="1300" b="1" dirty="0">
                <a:solidFill>
                  <a:srgbClr val="0F1B2D"/>
                </a:solidFill>
              </a:rPr>
              <a:t> libre)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2402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 err="1">
                <a:solidFill>
                  <a:srgbClr val="6B8CA0"/>
                </a:solidFill>
              </a:rPr>
              <a:t>canva.link</a:t>
            </a:r>
            <a:r>
              <a:rPr lang="en-US" sz="1100" i="1" dirty="0">
                <a:solidFill>
                  <a:srgbClr val="6B8CA0"/>
                </a:solidFill>
              </a:rPr>
              <a:t>/9oykfme2pt7f9z1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5029200" cy="50292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914400" y="64008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¡Ahora es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tu turno!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2286000" y="2240280"/>
            <a:ext cx="457200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C2A8"/>
                </a:solidFill>
              </a:rPr>
              <a:t>Para tu proyecto final, investiga: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2926080"/>
            <a:ext cx="694944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🔍  ¿Cuál es el problema que quieres resolver?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401568"/>
            <a:ext cx="694944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1280160" y="34015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👥  ¿A quién afecta y cómo lo afecta?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3877056"/>
            <a:ext cx="694944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280160" y="3877056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📊  ¿Qué datos o evidencias sustentan la existencia del problema?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4352544"/>
            <a:ext cx="694944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1280160" y="4352544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💡  ¿Qué solución tecnológica propones?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718</Words>
  <Application>Microsoft Office PowerPoint</Application>
  <PresentationFormat>Presentación en pantalla (16:9)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Laboratorio: Investigación del Problema - Ejemplos de Proyectos Finales</dc:title>
  <dc:subject>PptxGenJS Presentation</dc:subject>
  <dc:creator>PptxGenJS</dc:creator>
  <cp:lastModifiedBy>Diego Alonso Garate Polar</cp:lastModifiedBy>
  <cp:revision>1</cp:revision>
  <dcterms:created xsi:type="dcterms:W3CDTF">2026-04-06T04:21:47Z</dcterms:created>
  <dcterms:modified xsi:type="dcterms:W3CDTF">2026-04-06T21:46:46Z</dcterms:modified>
</cp:coreProperties>
</file>