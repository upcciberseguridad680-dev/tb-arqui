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647D-FC6A-4D89-ABAA-25E079553043}" v="1" dt="2026-04-07T16:20:26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arate" userId="6ce5b0a8a87044cc" providerId="LiveId" clId="{3FC3F052-3F8F-42D3-B8EA-956065AA0F0F}"/>
    <pc:docChg chg="undo custSel delSld modSld">
      <pc:chgData name="Diego Garate" userId="6ce5b0a8a87044cc" providerId="LiveId" clId="{3FC3F052-3F8F-42D3-B8EA-956065AA0F0F}" dt="2026-04-07T18:41:39.009" v="93" actId="20577"/>
      <pc:docMkLst>
        <pc:docMk/>
      </pc:docMkLst>
      <pc:sldChg chg="modSp mod">
        <pc:chgData name="Diego Garate" userId="6ce5b0a8a87044cc" providerId="LiveId" clId="{3FC3F052-3F8F-42D3-B8EA-956065AA0F0F}" dt="2026-03-25T19:32:50.251" v="2" actId="1076"/>
        <pc:sldMkLst>
          <pc:docMk/>
          <pc:sldMk cId="0" sldId="256"/>
        </pc:sldMkLst>
        <pc:spChg chg="mod">
          <ac:chgData name="Diego Garate" userId="6ce5b0a8a87044cc" providerId="LiveId" clId="{3FC3F052-3F8F-42D3-B8EA-956065AA0F0F}" dt="2026-03-25T19:32:48.850" v="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32:45.349" v="0" actId="1076"/>
          <ac:spMkLst>
            <pc:docMk/>
            <pc:sldMk cId="0" sldId="256"/>
            <ac:spMk id="6" creationId="{00000000-0000-0000-0000-000000000000}"/>
          </ac:spMkLst>
        </pc:spChg>
        <pc:picChg chg="mod">
          <ac:chgData name="Diego Garate" userId="6ce5b0a8a87044cc" providerId="LiveId" clId="{3FC3F052-3F8F-42D3-B8EA-956065AA0F0F}" dt="2026-03-25T19:32:50.251" v="2" actId="1076"/>
          <ac:picMkLst>
            <pc:docMk/>
            <pc:sldMk cId="0" sldId="256"/>
            <ac:picMk id="4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4-07T15:56:15.485" v="49" actId="20577"/>
        <pc:sldMkLst>
          <pc:docMk/>
          <pc:sldMk cId="0" sldId="258"/>
        </pc:sldMkLst>
        <pc:spChg chg="mod">
          <ac:chgData name="Diego Garate" userId="6ce5b0a8a87044cc" providerId="LiveId" clId="{3FC3F052-3F8F-42D3-B8EA-956065AA0F0F}" dt="2026-04-07T15:56:15.485" v="49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Diego Garate" userId="6ce5b0a8a87044cc" providerId="LiveId" clId="{3FC3F052-3F8F-42D3-B8EA-956065AA0F0F}" dt="2026-04-07T15:53:51.383" v="32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19:39:24.397" v="6" actId="1076"/>
        <pc:sldMkLst>
          <pc:docMk/>
          <pc:sldMk cId="0" sldId="259"/>
        </pc:sldMkLst>
        <pc:spChg chg="mod">
          <ac:chgData name="Diego Garate" userId="6ce5b0a8a87044cc" providerId="LiveId" clId="{3FC3F052-3F8F-42D3-B8EA-956065AA0F0F}" dt="2026-03-25T19:39:24.397" v="6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39:18.005" v="5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39:18.005" v="5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39:18.005" v="5" actId="1076"/>
          <ac:spMkLst>
            <pc:docMk/>
            <pc:sldMk cId="0" sldId="259"/>
            <ac:spMk id="7" creationId="{00000000-0000-0000-0000-000000000000}"/>
          </ac:spMkLst>
        </pc:spChg>
        <pc:picChg chg="mod">
          <ac:chgData name="Diego Garate" userId="6ce5b0a8a87044cc" providerId="LiveId" clId="{3FC3F052-3F8F-42D3-B8EA-956065AA0F0F}" dt="2026-03-25T19:39:18.005" v="5" actId="1076"/>
          <ac:picMkLst>
            <pc:docMk/>
            <pc:sldMk cId="0" sldId="259"/>
            <ac:picMk id="5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4-07T16:20:50.389" v="91" actId="20577"/>
        <pc:sldMkLst>
          <pc:docMk/>
          <pc:sldMk cId="0" sldId="260"/>
        </pc:sldMkLst>
        <pc:spChg chg="mod">
          <ac:chgData name="Diego Garate" userId="6ce5b0a8a87044cc" providerId="LiveId" clId="{3FC3F052-3F8F-42D3-B8EA-956065AA0F0F}" dt="2026-04-07T16:20:37.253" v="89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50.389" v="9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0:32.384" v="88" actId="1036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07T16:27:42.308" v="92" actId="207"/>
        <pc:sldMkLst>
          <pc:docMk/>
          <pc:sldMk cId="0" sldId="261"/>
        </pc:sldMkLst>
        <pc:spChg chg="mod">
          <ac:chgData name="Diego Garate" userId="6ce5b0a8a87044cc" providerId="LiveId" clId="{3FC3F052-3F8F-42D3-B8EA-956065AA0F0F}" dt="2026-03-25T19:45:30.228" v="8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07T16:27:42.308" v="92" actId="20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07T18:41:39.009" v="93" actId="20577"/>
        <pc:sldMkLst>
          <pc:docMk/>
          <pc:sldMk cId="0" sldId="263"/>
        </pc:sldMkLst>
        <pc:spChg chg="mod">
          <ac:chgData name="Diego Garate" userId="6ce5b0a8a87044cc" providerId="LiveId" clId="{3FC3F052-3F8F-42D3-B8EA-956065AA0F0F}" dt="2026-03-25T19:49:00.120" v="9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52:07.350" v="10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52:09.791" v="11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4-07T18:41:39.009" v="93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20:09:53.656" v="12" actId="1076"/>
        <pc:sldMkLst>
          <pc:docMk/>
          <pc:sldMk cId="0" sldId="265"/>
        </pc:sldMkLst>
        <pc:spChg chg="mod">
          <ac:chgData name="Diego Garate" userId="6ce5b0a8a87044cc" providerId="LiveId" clId="{3FC3F052-3F8F-42D3-B8EA-956065AA0F0F}" dt="2026-03-25T20:09:53.656" v="12" actId="1076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86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1055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1631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 DE RESTRICCIÓN EN SEGURIDAD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77668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2: Desarrollo de Software Seguro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819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los principios fundamentales de restricción en seguridad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13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286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principio de mínimo privilegio en diseños de software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449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017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mitigar riesgos mediante separación de responsabilidades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2"/>
          <p:cNvSpPr/>
          <p:nvPr/>
        </p:nvSpPr>
        <p:spPr>
          <a:xfrm>
            <a:off x="731520" y="365760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764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49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estrategias de fail-safe y mediación completa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</a:t>
            </a:r>
            <a:r>
              <a:rPr lang="en-US" sz="2000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</a:t>
            </a: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son </a:t>
            </a:r>
            <a:r>
              <a:rPr lang="en-US" sz="2000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importantes</a:t>
            </a: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los </a:t>
            </a:r>
            <a:r>
              <a:rPr lang="en-US" sz="2000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</a:t>
            </a: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</a:t>
            </a:r>
            <a:r>
              <a:rPr lang="en-US" sz="2000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restricción</a:t>
            </a: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acceso y los privilegios reduce drásticamente la superficie de ataque y el impacto potencial de una brecha de seguridad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Central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de restricción se basan en </a:t>
            </a: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poder, alcance y confianza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componente del sistema. Esto significa que cada usuario, proceso o módulo debe tener solo los permisos mínimos necesarios para cumplir su función, sin acceso innecesario a otros recursos o datos.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el impacto de vulnerabilidades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Limita el movimiento lateral de atacantes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Facilita auditoría y detección de anomalías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1: Least Privilege (Mínimo Privilegio)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7631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555543"/>
            <a:ext cx="3931920" cy="2100993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38424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61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88142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usuario, proceso o programa debe operar con el mínimo conjunto de privilegios necesarios para completar su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Prácticas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931920" cy="30175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4937760" y="18745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de datos: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Usuario web solo con permisos SELECT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Sistemas operativos: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Servicios ejecutados sin privilegios de root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Aplicaciones: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Usuarios con roles específicos y limitados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Tokens con alcance (scope) restringido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2: Fail-Safe Defaults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143352"/>
          </a:xfrm>
          <a:prstGeom prst="rect">
            <a:avLst/>
          </a:prstGeom>
          <a:solidFill>
            <a:schemeClr val="accent5">
              <a:lumMod val="20000"/>
              <a:lumOff val="80000"/>
              <a:alpha val="90000"/>
            </a:scheme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39"/>
            <a:ext cx="6949440" cy="833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defecto, el acceso </a:t>
            </a:r>
            <a:r>
              <a:rPr lang="en-US" sz="1600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DENEGADO (ante </a:t>
            </a:r>
            <a:r>
              <a:rPr lang="en-US" sz="1600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</a:p>
          <a:p>
            <a:r>
              <a:rPr lang="es-PE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se deniegue el acceso a menos que se permita explícitamente, lo que evita el acceso no autorizado en caso de fallos del sistema, errores de configuración o situaciones inesperadas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880712"/>
            <a:ext cx="3931920" cy="21031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2880712"/>
            <a:ext cx="3931920" cy="914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40080" y="3063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Enfoque Incorrecto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429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todo por defecto y bloquear lo peligroso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88655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Difícil mantener lista de excepciones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Alto riesgo de olvidos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Nuevas funciones inseguras por defecto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880712"/>
            <a:ext cx="3931920" cy="21031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4754880" y="2880712"/>
            <a:ext cx="3931920" cy="914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4937760" y="3063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Enfoque Correcto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37760" y="3429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Denegar todo por defecto y permitir lo necesario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0" y="388655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explícito de permisos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Seguro por diseño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Auditoría clara de accesos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3: Complete Mediation (Mediación Completa)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9191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acceso a un recurso debe ser verificado en CADA intento. No confiar en verificaciones previas o cachés de permisos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Común: Verificación única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se autentica al inicio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Sistema crea sesión sin re-verificar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Usuario accede a recursos sin nuevas validaciones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Riesgo: Session hijacking, privilege escalation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Verificación continua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846320" y="2743200"/>
            <a:ext cx="3840480" cy="164592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5029200" y="28803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Verificar permisos en cada operación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Validar autorización en cada request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confiar en estados previos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Implementar tokens de corta duración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4: Separation (Separación)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funciones y responsabilidades para que ninguna entidad tenga control completo sobre operaciones críticas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73152" cy="5029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077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Privilegios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310896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partes deben cooperar para completar una acción sensible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Transferencias bancarias grandes requieren 2 aprobaciones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73152" cy="5029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4787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520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37490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roles tienen funciones distintas y no superpuestas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0" y="3611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Quien desarrolla no debe aprobar su propio código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Shape 14"/>
          <p:cNvSpPr/>
          <p:nvPr/>
        </p:nvSpPr>
        <p:spPr>
          <a:xfrm>
            <a:off x="457200" y="4114800"/>
            <a:ext cx="73152" cy="5029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8795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Entornos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280160" y="43891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Desarrollo, pruebas y producción deben estar aislados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6928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Datos de producción nunca en ambientes de desarrollo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5: Minimize Trust (Minimizar Confianza)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número de componentes confiables al mínimo necesario. Verificar en lugar de confiar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Tradicional vs Zero Trust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Modelo Tradicional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Confiar en la red interna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Perímetro fuerte, interior débil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basado en ubicación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 vez dentro, moverse libremente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Zero Trust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0" y="3337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Nunca confiar, siempre verificar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Verificación continua de identidad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Reducción de Superficie de Ataque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 principios de restricción reduce drásticamente la superficie de ataque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Servicios Innecesarios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 ejecutándose = menos vectores de ataque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Deshabilitar servicios no utilizados en servidores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Puertos Expuestos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exponer los puertos estrictamente necesarios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Firewall bloqueando todo excepto HTTP/HTTPS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Funcionalidad No Usada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 utilizado puede tener vulnerabilidades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Remover paneles de administración en producción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Métodos HTTP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solo los métodos necesarios (GET, POST)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Bloquear PUT, DELETE, TRACE en APIs públicas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Estudio: Violación de Principios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(2013)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con privilegios excesivos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828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violado: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millones de tarjetas comprometidas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88720" y="2377440"/>
            <a:ext cx="7315200" cy="22860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1280160" y="23774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Lección: Proveedor HVAC tenía acceso a red de pago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(2016)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887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hardcodeadas en repositorio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violado: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Trust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8872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millones de usuarios afectados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188720" y="3931920"/>
            <a:ext cx="7315200" cy="22860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5"/>
          <p:cNvSpPr/>
          <p:nvPr/>
        </p:nvSpPr>
        <p:spPr>
          <a:xfrm>
            <a:off x="1280160" y="3931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Lección: No confiar que el código fuente permanecerá privado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Implementación Práctica en Código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Código Inseguro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2651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verificación de permisos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app.delete('/user/:id', (req)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req.params.id;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db.deleteUser(userId);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'User deleted';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Cualquiera puede borrar usuarios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Código Seguro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2651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Verificación completa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app.delete('/user/:id',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requireAuth,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requireRole('admin'),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(req)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userId = req.params.id;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checkPermission(req.user, userId);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db.deleteUser(userId);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'User deleted';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Múltiples capas de verificación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Clave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mínimo privilegio en TODAS las capas del sistema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Denegar por defecto, permitir explícitamente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146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0240" y="2560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permisos en cada operación, no solo al inicio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175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20240" y="3063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responsabilidades para evitar concentración de poder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2044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20240" y="3566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confianza: nunca confiar, siempre verificar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1828800" y="3931920"/>
            <a:ext cx="5486400" cy="64008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7"/>
          <p:cNvSpPr/>
          <p:nvPr/>
        </p:nvSpPr>
        <p:spPr>
          <a:xfrm>
            <a:off x="201168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seguridad efectiva se construye con capas de restricción"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945</Words>
  <Application>Microsoft Office PowerPoint</Application>
  <PresentationFormat>Presentación en pantalla (16:9)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de Restricción en Seguridad - Sesión 2</dc:title>
  <dc:subject>PptxGenJS Presentation</dc:subject>
  <dc:creator>Instructor</dc:creator>
  <cp:lastModifiedBy>Diego Alonso Garate Polar</cp:lastModifiedBy>
  <cp:revision>1</cp:revision>
  <dcterms:created xsi:type="dcterms:W3CDTF">2026-01-28T23:10:42Z</dcterms:created>
  <dcterms:modified xsi:type="dcterms:W3CDTF">2026-04-07T18:41:49Z</dcterms:modified>
</cp:coreProperties>
</file>