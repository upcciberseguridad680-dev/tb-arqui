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8" r:id="rId5"/>
    <p:sldId id="259" r:id="rId6"/>
    <p:sldId id="260" r:id="rId7"/>
    <p:sldId id="269" r:id="rId8"/>
    <p:sldId id="261" r:id="rId9"/>
    <p:sldId id="270" r:id="rId10"/>
    <p:sldId id="263" r:id="rId11"/>
    <p:sldId id="272" r:id="rId12"/>
    <p:sldId id="264" r:id="rId13"/>
    <p:sldId id="265" r:id="rId14"/>
    <p:sldId id="273" r:id="rId15"/>
    <p:sldId id="274" r:id="rId16"/>
    <p:sldId id="275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86E28F-8C3C-4D9B-83FC-DA947CD44167}" v="9" dt="2026-05-05T19:59:39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arate" userId="6ce5b0a8a87044cc" providerId="LiveId" clId="{3FC3F052-3F8F-42D3-B8EA-956065AA0F0F}"/>
    <pc:docChg chg="undo custSel addSld delSld modSld">
      <pc:chgData name="Diego Garate" userId="6ce5b0a8a87044cc" providerId="LiveId" clId="{3FC3F052-3F8F-42D3-B8EA-956065AA0F0F}" dt="2026-05-05T20:14:54.075" v="101" actId="1076"/>
      <pc:docMkLst>
        <pc:docMk/>
      </pc:docMkLst>
      <pc:sldChg chg="modSp mod">
        <pc:chgData name="Diego Garate" userId="6ce5b0a8a87044cc" providerId="LiveId" clId="{3FC3F052-3F8F-42D3-B8EA-956065AA0F0F}" dt="2026-05-04T19:14:06.927" v="20" actId="1036"/>
        <pc:sldMkLst>
          <pc:docMk/>
          <pc:sldMk cId="0" sldId="256"/>
        </pc:sldMkLst>
        <pc:spChg chg="mod">
          <ac:chgData name="Diego Garate" userId="6ce5b0a8a87044cc" providerId="LiveId" clId="{3FC3F052-3F8F-42D3-B8EA-956065AA0F0F}" dt="2026-05-04T19:14:06.927" v="20" actId="1036"/>
          <ac:spMkLst>
            <pc:docMk/>
            <pc:sldMk cId="0" sldId="256"/>
            <ac:spMk id="6" creationId="{00000000-0000-0000-0000-000000000000}"/>
          </ac:spMkLst>
        </pc:spChg>
      </pc:sldChg>
      <pc:sldChg chg="delSp mod">
        <pc:chgData name="Diego Garate" userId="6ce5b0a8a87044cc" providerId="LiveId" clId="{3FC3F052-3F8F-42D3-B8EA-956065AA0F0F}" dt="2026-05-05T19:42:51.289" v="71" actId="478"/>
        <pc:sldMkLst>
          <pc:docMk/>
          <pc:sldMk cId="0" sldId="257"/>
        </pc:sldMkLst>
        <pc:spChg chg="del">
          <ac:chgData name="Diego Garate" userId="6ce5b0a8a87044cc" providerId="LiveId" clId="{3FC3F052-3F8F-42D3-B8EA-956065AA0F0F}" dt="2026-05-05T19:42:51.289" v="71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Diego Garate" userId="6ce5b0a8a87044cc" providerId="LiveId" clId="{3FC3F052-3F8F-42D3-B8EA-956065AA0F0F}" dt="2026-05-05T19:42:51.289" v="71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Diego Garate" userId="6ce5b0a8a87044cc" providerId="LiveId" clId="{3FC3F052-3F8F-42D3-B8EA-956065AA0F0F}" dt="2026-05-05T19:42:51.289" v="71" actId="478"/>
          <ac:spMkLst>
            <pc:docMk/>
            <pc:sldMk cId="0" sldId="257"/>
            <ac:spMk id="19" creationId="{00000000-0000-0000-0000-000000000000}"/>
          </ac:spMkLst>
        </pc:spChg>
        <pc:picChg chg="del">
          <ac:chgData name="Diego Garate" userId="6ce5b0a8a87044cc" providerId="LiveId" clId="{3FC3F052-3F8F-42D3-B8EA-956065AA0F0F}" dt="2026-05-05T19:42:51.289" v="71" actId="478"/>
          <ac:picMkLst>
            <pc:docMk/>
            <pc:sldMk cId="0" sldId="257"/>
            <ac:picMk id="18" creationId="{00000000-0000-0000-0000-000000000000}"/>
          </ac:picMkLst>
        </pc:picChg>
      </pc:sldChg>
      <pc:sldChg chg="modSp mod">
        <pc:chgData name="Diego Garate" userId="6ce5b0a8a87044cc" providerId="LiveId" clId="{3FC3F052-3F8F-42D3-B8EA-956065AA0F0F}" dt="2026-05-05T17:54:04.413" v="27" actId="1076"/>
        <pc:sldMkLst>
          <pc:docMk/>
          <pc:sldMk cId="0" sldId="258"/>
        </pc:sldMkLst>
        <pc:spChg chg="mod">
          <ac:chgData name="Diego Garate" userId="6ce5b0a8a87044cc" providerId="LiveId" clId="{3FC3F052-3F8F-42D3-B8EA-956065AA0F0F}" dt="2026-05-05T17:54:04.413" v="27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5-05T17:56:12.752" v="28" actId="1076"/>
        <pc:sldMkLst>
          <pc:docMk/>
          <pc:sldMk cId="0" sldId="259"/>
        </pc:sldMkLst>
        <pc:spChg chg="mod">
          <ac:chgData name="Diego Garate" userId="6ce5b0a8a87044cc" providerId="LiveId" clId="{3FC3F052-3F8F-42D3-B8EA-956065AA0F0F}" dt="2026-05-05T17:56:12.752" v="28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5-05T17:57:44.022" v="33" actId="1076"/>
        <pc:sldMkLst>
          <pc:docMk/>
          <pc:sldMk cId="0" sldId="260"/>
        </pc:sldMkLst>
        <pc:spChg chg="mod">
          <ac:chgData name="Diego Garate" userId="6ce5b0a8a87044cc" providerId="LiveId" clId="{3FC3F052-3F8F-42D3-B8EA-956065AA0F0F}" dt="2026-05-05T17:57:44.022" v="33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5-05T18:01:57.992" v="39" actId="1076"/>
        <pc:sldMkLst>
          <pc:docMk/>
          <pc:sldMk cId="0" sldId="261"/>
        </pc:sldMkLst>
        <pc:spChg chg="mod">
          <ac:chgData name="Diego Garate" userId="6ce5b0a8a87044cc" providerId="LiveId" clId="{3FC3F052-3F8F-42D3-B8EA-956065AA0F0F}" dt="2026-05-05T18:01:57.992" v="39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del mod">
        <pc:chgData name="Diego Garate" userId="6ce5b0a8a87044cc" providerId="LiveId" clId="{3FC3F052-3F8F-42D3-B8EA-956065AA0F0F}" dt="2026-05-05T19:42:44.206" v="70" actId="47"/>
        <pc:sldMkLst>
          <pc:docMk/>
          <pc:sldMk cId="0" sldId="262"/>
        </pc:sldMkLst>
        <pc:spChg chg="mod">
          <ac:chgData name="Diego Garate" userId="6ce5b0a8a87044cc" providerId="LiveId" clId="{3FC3F052-3F8F-42D3-B8EA-956065AA0F0F}" dt="2026-05-05T19:40:50.899" v="64" actId="10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5-05T19:40:56.508" v="66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5-05T19:40:59.607" v="67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5-05T19:41:04.380" v="68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5-05T19:41:08.774" v="69" actId="14100"/>
          <ac:spMkLst>
            <pc:docMk/>
            <pc:sldMk cId="0" sldId="262"/>
            <ac:spMk id="14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5-04T19:15:28.815" v="26" actId="207"/>
        <pc:sldMkLst>
          <pc:docMk/>
          <pc:sldMk cId="0" sldId="265"/>
        </pc:sldMkLst>
        <pc:spChg chg="mod">
          <ac:chgData name="Diego Garate" userId="6ce5b0a8a87044cc" providerId="LiveId" clId="{3FC3F052-3F8F-42D3-B8EA-956065AA0F0F}" dt="2026-05-04T19:15:05.873" v="21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5-04T19:15:19.818" v="24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Diego Garate" userId="6ce5b0a8a87044cc" providerId="LiveId" clId="{3FC3F052-3F8F-42D3-B8EA-956065AA0F0F}" dt="2026-05-04T19:15:10.068" v="22" actId="207"/>
          <ac:spMkLst>
            <pc:docMk/>
            <pc:sldMk cId="0" sldId="265"/>
            <ac:spMk id="9" creationId="{00000000-0000-0000-0000-000000000000}"/>
          </ac:spMkLst>
        </pc:spChg>
        <pc:spChg chg="mod">
          <ac:chgData name="Diego Garate" userId="6ce5b0a8a87044cc" providerId="LiveId" clId="{3FC3F052-3F8F-42D3-B8EA-956065AA0F0F}" dt="2026-05-04T19:15:25.360" v="25" actId="20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iego Garate" userId="6ce5b0a8a87044cc" providerId="LiveId" clId="{3FC3F052-3F8F-42D3-B8EA-956065AA0F0F}" dt="2026-05-04T19:15:12.431" v="23" actId="20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5-04T19:15:28.815" v="26" actId="207"/>
          <ac:spMkLst>
            <pc:docMk/>
            <pc:sldMk cId="0" sldId="265"/>
            <ac:spMk id="15" creationId="{00000000-0000-0000-0000-000000000000}"/>
          </ac:spMkLst>
        </pc:spChg>
      </pc:sldChg>
      <pc:sldChg chg="delSp modSp mod">
        <pc:chgData name="Diego Garate" userId="6ce5b0a8a87044cc" providerId="LiveId" clId="{3FC3F052-3F8F-42D3-B8EA-956065AA0F0F}" dt="2026-05-05T20:14:54.075" v="101" actId="1076"/>
        <pc:sldMkLst>
          <pc:docMk/>
          <pc:sldMk cId="0" sldId="266"/>
        </pc:sldMkLst>
        <pc:spChg chg="del">
          <ac:chgData name="Diego Garate" userId="6ce5b0a8a87044cc" providerId="LiveId" clId="{3FC3F052-3F8F-42D3-B8EA-956065AA0F0F}" dt="2026-05-05T20:14:43.843" v="99" actId="47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iego Garate" userId="6ce5b0a8a87044cc" providerId="LiveId" clId="{3FC3F052-3F8F-42D3-B8EA-956065AA0F0F}" dt="2026-05-05T20:14:54.075" v="101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iego Garate" userId="6ce5b0a8a87044cc" providerId="LiveId" clId="{3FC3F052-3F8F-42D3-B8EA-956065AA0F0F}" dt="2026-05-05T20:14:50.915" v="100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iego Garate" userId="6ce5b0a8a87044cc" providerId="LiveId" clId="{3FC3F052-3F8F-42D3-B8EA-956065AA0F0F}" dt="2026-05-05T20:14:50.915" v="100" actId="1076"/>
          <ac:spMkLst>
            <pc:docMk/>
            <pc:sldMk cId="0" sldId="266"/>
            <ac:spMk id="14" creationId="{00000000-0000-0000-0000-000000000000}"/>
          </ac:spMkLst>
        </pc:spChg>
        <pc:picChg chg="del">
          <ac:chgData name="Diego Garate" userId="6ce5b0a8a87044cc" providerId="LiveId" clId="{3FC3F052-3F8F-42D3-B8EA-956065AA0F0F}" dt="2026-05-05T20:14:43.843" v="99" actId="478"/>
          <ac:picMkLst>
            <pc:docMk/>
            <pc:sldMk cId="0" sldId="266"/>
            <ac:picMk id="9" creationId="{00000000-0000-0000-0000-000000000000}"/>
          </ac:picMkLst>
        </pc:picChg>
        <pc:picChg chg="mod">
          <ac:chgData name="Diego Garate" userId="6ce5b0a8a87044cc" providerId="LiveId" clId="{3FC3F052-3F8F-42D3-B8EA-956065AA0F0F}" dt="2026-05-05T20:14:50.915" v="100" actId="1076"/>
          <ac:picMkLst>
            <pc:docMk/>
            <pc:sldMk cId="0" sldId="266"/>
            <ac:picMk id="11" creationId="{00000000-0000-0000-0000-000000000000}"/>
          </ac:picMkLst>
        </pc:picChg>
      </pc:sldChg>
      <pc:sldChg chg="modSp add mod setBg">
        <pc:chgData name="Diego Garate" userId="6ce5b0a8a87044cc" providerId="LiveId" clId="{3FC3F052-3F8F-42D3-B8EA-956065AA0F0F}" dt="2026-05-05T17:56:47.934" v="32" actId="6549"/>
        <pc:sldMkLst>
          <pc:docMk/>
          <pc:sldMk cId="0" sldId="268"/>
        </pc:sldMkLst>
        <pc:spChg chg="mod">
          <ac:chgData name="Diego Garate" userId="6ce5b0a8a87044cc" providerId="LiveId" clId="{3FC3F052-3F8F-42D3-B8EA-956065AA0F0F}" dt="2026-05-05T17:56:47.934" v="32" actId="6549"/>
          <ac:spMkLst>
            <pc:docMk/>
            <pc:sldMk cId="0" sldId="268"/>
            <ac:spMk id="2" creationId="{00000000-0000-0000-0000-000000000000}"/>
          </ac:spMkLst>
        </pc:spChg>
      </pc:sldChg>
      <pc:sldChg chg="modSp add mod setBg">
        <pc:chgData name="Diego Garate" userId="6ce5b0a8a87044cc" providerId="LiveId" clId="{3FC3F052-3F8F-42D3-B8EA-956065AA0F0F}" dt="2026-05-05T17:59:18.221" v="38" actId="20577"/>
        <pc:sldMkLst>
          <pc:docMk/>
          <pc:sldMk cId="0" sldId="269"/>
        </pc:sldMkLst>
        <pc:spChg chg="mod">
          <ac:chgData name="Diego Garate" userId="6ce5b0a8a87044cc" providerId="LiveId" clId="{3FC3F052-3F8F-42D3-B8EA-956065AA0F0F}" dt="2026-05-05T17:59:18.221" v="38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Diego Garate" userId="6ce5b0a8a87044cc" providerId="LiveId" clId="{3FC3F052-3F8F-42D3-B8EA-956065AA0F0F}" dt="2026-05-05T17:58:49.810" v="36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Diego Garate" userId="6ce5b0a8a87044cc" providerId="LiveId" clId="{3FC3F052-3F8F-42D3-B8EA-956065AA0F0F}" dt="2026-05-05T17:58:49.810" v="36" actId="14100"/>
          <ac:spMkLst>
            <pc:docMk/>
            <pc:sldMk cId="0" sldId="269"/>
            <ac:spMk id="5" creationId="{00000000-0000-0000-0000-000000000000}"/>
          </ac:spMkLst>
        </pc:spChg>
        <pc:spChg chg="mod">
          <ac:chgData name="Diego Garate" userId="6ce5b0a8a87044cc" providerId="LiveId" clId="{3FC3F052-3F8F-42D3-B8EA-956065AA0F0F}" dt="2026-05-05T17:58:37.124" v="35" actId="14100"/>
          <ac:spMkLst>
            <pc:docMk/>
            <pc:sldMk cId="0" sldId="269"/>
            <ac:spMk id="8" creationId="{00000000-0000-0000-0000-000000000000}"/>
          </ac:spMkLst>
        </pc:spChg>
      </pc:sldChg>
      <pc:sldChg chg="modSp add mod setBg">
        <pc:chgData name="Diego Garate" userId="6ce5b0a8a87044cc" providerId="LiveId" clId="{3FC3F052-3F8F-42D3-B8EA-956065AA0F0F}" dt="2026-05-05T19:40:42.777" v="49" actId="1036"/>
        <pc:sldMkLst>
          <pc:docMk/>
          <pc:sldMk cId="0" sldId="270"/>
        </pc:sldMkLst>
        <pc:spChg chg="mod">
          <ac:chgData name="Diego Garate" userId="6ce5b0a8a87044cc" providerId="LiveId" clId="{3FC3F052-3F8F-42D3-B8EA-956065AA0F0F}" dt="2026-05-05T18:03:46.312" v="45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Diego Garate" userId="6ce5b0a8a87044cc" providerId="LiveId" clId="{3FC3F052-3F8F-42D3-B8EA-956065AA0F0F}" dt="2026-05-05T19:40:42.777" v="49" actId="10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Diego Garate" userId="6ce5b0a8a87044cc" providerId="LiveId" clId="{3FC3F052-3F8F-42D3-B8EA-956065AA0F0F}" dt="2026-05-05T18:02:25.852" v="43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5-05T18:02:25.852" v="43" actId="14100"/>
          <ac:spMkLst>
            <pc:docMk/>
            <pc:sldMk cId="0" sldId="270"/>
            <ac:spMk id="7" creationId="{00000000-0000-0000-0000-000000000000}"/>
          </ac:spMkLst>
        </pc:spChg>
      </pc:sldChg>
      <pc:sldChg chg="add setBg">
        <pc:chgData name="Diego Garate" userId="6ce5b0a8a87044cc" providerId="LiveId" clId="{3FC3F052-3F8F-42D3-B8EA-956065AA0F0F}" dt="2026-05-05T19:45:14.416" v="72"/>
        <pc:sldMkLst>
          <pc:docMk/>
          <pc:sldMk cId="0" sldId="272"/>
        </pc:sldMkLst>
      </pc:sldChg>
      <pc:sldChg chg="add">
        <pc:chgData name="Diego Garate" userId="6ce5b0a8a87044cc" providerId="LiveId" clId="{3FC3F052-3F8F-42D3-B8EA-956065AA0F0F}" dt="2026-05-05T19:53:06.060" v="73"/>
        <pc:sldMkLst>
          <pc:docMk/>
          <pc:sldMk cId="0" sldId="273"/>
        </pc:sldMkLst>
      </pc:sldChg>
      <pc:sldChg chg="add del setBg">
        <pc:chgData name="Diego Garate" userId="6ce5b0a8a87044cc" providerId="LiveId" clId="{3FC3F052-3F8F-42D3-B8EA-956065AA0F0F}" dt="2026-05-05T19:55:49.662" v="76"/>
        <pc:sldMkLst>
          <pc:docMk/>
          <pc:sldMk cId="0" sldId="274"/>
        </pc:sldMkLst>
      </pc:sldChg>
      <pc:sldChg chg="add">
        <pc:chgData name="Diego Garate" userId="6ce5b0a8a87044cc" providerId="LiveId" clId="{3FC3F052-3F8F-42D3-B8EA-956065AA0F0F}" dt="2026-05-05T19:59:39.171" v="7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948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 SOFTWARE SEGURA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162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6: Desarrollo de Software Seguro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819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los principios de arquitectura en capas (Layering)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19456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13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286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abstracción para reducir complejidad y mejorar seguridad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731520" y="2926080"/>
            <a:ext cx="73152" cy="5943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449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017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sistemas modulares con separación de responsabilidades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1: Layering (Arquitectura en Capas)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el sistema en capas jerárquicas donde cada capa solo se comunica con las capas adyacentes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2011680" y="2286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(UI)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0" y="2743200"/>
            <a:ext cx="0" cy="18288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201168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0" y="3383280"/>
            <a:ext cx="0" cy="18288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2011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0" y="4023360"/>
            <a:ext cx="0" cy="18288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1828800" y="4206240"/>
            <a:ext cx="5486400" cy="4572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2011680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2400" b="1" dirty="0">
                <a:solidFill>
                  <a:srgbClr val="1E2761"/>
                </a:solidFill>
                <a:latin typeface="Arial Black" pitchFamily="34" charset="0"/>
              </a:rPr>
              <a:t>Código Práctico: </a:t>
            </a:r>
            <a:r>
              <a:rPr lang="es-PE" sz="2400" b="1" dirty="0" err="1">
                <a:solidFill>
                  <a:srgbClr val="1E2761"/>
                </a:solidFill>
                <a:latin typeface="Arial Black" pitchFamily="34" charset="0"/>
              </a:rPr>
              <a:t>Layering</a:t>
            </a:r>
            <a:r>
              <a:rPr lang="es-PE" sz="1800" b="0" dirty="0">
                <a:solidFill>
                  <a:srgbClr val="555555"/>
                </a:solidFill>
                <a:latin typeface="Calibri" pitchFamily="34" charset="0"/>
              </a:rPr>
              <a:t>  </a:t>
            </a:r>
            <a:br>
              <a:rPr lang="es-PE" sz="1800" b="0" dirty="0">
                <a:solidFill>
                  <a:srgbClr val="555555"/>
                </a:solidFill>
                <a:latin typeface="Calibri" pitchFamily="34" charset="0"/>
              </a:rPr>
            </a:br>
            <a:r>
              <a:rPr lang="es-PE" sz="1800" b="0" dirty="0">
                <a:solidFill>
                  <a:srgbClr val="555555"/>
                </a:solidFill>
                <a:latin typeface="Calibri" pitchFamily="34" charset="0"/>
              </a:rPr>
              <a:t>Separación de capas en React + Python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LabelLeft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solidFill>
            <a:srgbClr val="61DAFB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1A1A2E"/>
                </a:solidFill>
                <a:latin typeface="Consolas" pitchFamily="49" charset="0"/>
              </a:rPr>
              <a:t>⚛  React — Capa de Presentación</a:t>
            </a:r>
          </a:p>
        </p:txBody>
      </p:sp>
      <p:sp>
        <p:nvSpPr>
          <p:cNvPr id="5" name="CodePanelLeft"/>
          <p:cNvSpPr/>
          <p:nvPr/>
        </p:nvSpPr>
        <p:spPr>
          <a:xfrm>
            <a:off x="457200" y="1234440"/>
            <a:ext cx="4023360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UserList.jsx — SOLO presenta, no llama a BD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import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React, { useEffect, useState }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from </a:t>
            </a:r>
            <a:r>
              <a:rPr lang="es-PE" sz="1000" b="0" dirty="0">
                <a:solidFill>
                  <a:srgbClr val="F1FA8C"/>
                </a:solidFill>
                <a:latin typeface="Consolas" pitchFamily="49" charset="0"/>
              </a:rPr>
              <a:t>"react";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import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{ userService }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from </a:t>
            </a:r>
            <a:r>
              <a:rPr lang="es-PE" sz="1000" b="0" dirty="0">
                <a:solidFill>
                  <a:srgbClr val="F1FA8C"/>
                </a:solidFill>
                <a:latin typeface="Consolas" pitchFamily="49" charset="0"/>
              </a:rPr>
              <a:t>"../services/userService";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export default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function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UserList() {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[users, setUsers] = useState([]);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useEffect(()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=&gt;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{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Capa UI llama a Service, no a BD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userService.getAll().then(setUsers);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}, []);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(&lt;ul&gt; {users.map(u =&gt; &lt;li&gt;{u.name}&lt;/li&gt;)} &lt;/ul&gt;);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6" name="LabelRight"/>
          <p:cNvSpPr/>
          <p:nvPr/>
        </p:nvSpPr>
        <p:spPr>
          <a:xfrm>
            <a:off x="4663440" y="914400"/>
            <a:ext cx="4023360" cy="320040"/>
          </a:xfrm>
          <a:prstGeom prst="rect">
            <a:avLst/>
          </a:prstGeom>
          <a:solidFill>
            <a:srgbClr val="3572A5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FFFFFF"/>
                </a:solidFill>
                <a:latin typeface="Consolas" pitchFamily="49" charset="0"/>
              </a:rPr>
              <a:t>🐍  Python — Capa de Negocio + Datos</a:t>
            </a:r>
          </a:p>
        </p:txBody>
      </p:sp>
      <p:sp>
        <p:nvSpPr>
          <p:cNvPr id="7" name="CodePanelRight"/>
          <p:cNvSpPr/>
          <p:nvPr/>
        </p:nvSpPr>
        <p:spPr>
          <a:xfrm>
            <a:off x="4663440" y="1234440"/>
            <a:ext cx="4023360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service.py — Lógica de negocio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from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.repository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import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UserRepository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class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UserService: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Capa negocio: valida, transforma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def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get_all(self):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users = UserRepository().find_all()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[u.to_dict()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for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users]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repository.py — Capa de datos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class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UserRepository: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def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find_all(self):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Solo esta capa toca la BD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db.session.query(User).all()</a:t>
            </a:r>
          </a:p>
        </p:txBody>
      </p:sp>
      <p:sp>
        <p:nvSpPr>
          <p:cNvPr id="8" name="Callout"/>
          <p:cNvSpPr/>
          <p:nvPr/>
        </p:nvSpPr>
        <p:spPr>
          <a:xfrm>
            <a:off x="457200" y="4754280"/>
            <a:ext cx="8229600" cy="274638"/>
          </a:xfrm>
          <a:prstGeom prst="rect">
            <a:avLst/>
          </a:prstGeom>
          <a:solidFill>
            <a:srgbClr val="E8F5FD"/>
          </a:solidFill>
          <a:ln w="19050">
            <a:solidFill>
              <a:srgbClr val="00BCD4"/>
            </a:solidFill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🔒 Regla clave: </a:t>
            </a:r>
            <a:r>
              <a:rPr lang="es-PE" sz="1100" b="0" dirty="0">
                <a:solidFill>
                  <a:srgbClr val="333333"/>
                </a:solidFill>
                <a:latin typeface="Calibri" pitchFamily="34" charset="0"/>
              </a:rPr>
              <a:t>UI nunca accede a BD. Cada capa tiene una sola responsabilidad.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 de Seguridad del Layering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7695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8229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Profundidad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874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capas de protección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Ataque debe comprometer varias capas para tener éxito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73152" cy="8229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Privilegios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28016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con permisos mínimos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89120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UI no accede directamente a BD, solo a través de API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3"/>
          <p:cNvSpPr/>
          <p:nvPr/>
        </p:nvSpPr>
        <p:spPr>
          <a:xfrm>
            <a:off x="457200" y="3474720"/>
            <a:ext cx="73152" cy="82296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de Ataques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8016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alcance de compromisos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38912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Vulnerabilidad en UI no afecta capa de datos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2: Abstraction (Abstracción)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5730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detalles de implementación y exponer solo interfaces necesarias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Abstracción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Cliente accede directamente a BD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query = 'SELECT * FROM users';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db.execute(query);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Expone detalles internos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Permite SQL injection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 Abstracción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32918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Cliente usa interfaz abstracta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userService.getUsers();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Implementación oculta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UserService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getUsers() { /* detalles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2400" b="1" dirty="0">
                <a:solidFill>
                  <a:srgbClr val="1E2761"/>
                </a:solidFill>
                <a:latin typeface="Arial Black" pitchFamily="34" charset="0"/>
              </a:rPr>
              <a:t>Código Práctico: Abstracción</a:t>
            </a:r>
            <a:r>
              <a:rPr lang="es-PE" sz="1800" b="0" dirty="0">
                <a:solidFill>
                  <a:srgbClr val="555555"/>
                </a:solidFill>
                <a:latin typeface="Calibri" pitchFamily="34" charset="0"/>
              </a:rPr>
              <a:t> </a:t>
            </a:r>
            <a:br>
              <a:rPr lang="es-PE" sz="1800" b="0" dirty="0">
                <a:solidFill>
                  <a:srgbClr val="555555"/>
                </a:solidFill>
                <a:latin typeface="Calibri" pitchFamily="34" charset="0"/>
              </a:rPr>
            </a:br>
            <a:r>
              <a:rPr lang="es-PE" sz="1800" b="0" dirty="0">
                <a:solidFill>
                  <a:srgbClr val="555555"/>
                </a:solidFill>
                <a:latin typeface="Calibri" pitchFamily="34" charset="0"/>
              </a:rPr>
              <a:t>Hooks React + Dataclass Python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LabelLeft"/>
          <p:cNvSpPr/>
          <p:nvPr/>
        </p:nvSpPr>
        <p:spPr>
          <a:xfrm>
            <a:off x="293914" y="914400"/>
            <a:ext cx="4186646" cy="320040"/>
          </a:xfrm>
          <a:prstGeom prst="rect">
            <a:avLst/>
          </a:prstGeom>
          <a:solidFill>
            <a:srgbClr val="61DAFB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1A1A2E"/>
                </a:solidFill>
                <a:latin typeface="Consolas" pitchFamily="49" charset="0"/>
              </a:rPr>
              <a:t>⚛  React — Custom Hook (abstrae lógica)</a:t>
            </a:r>
          </a:p>
        </p:txBody>
      </p:sp>
      <p:sp>
        <p:nvSpPr>
          <p:cNvPr id="5" name="CodePanelLeft"/>
          <p:cNvSpPr/>
          <p:nvPr/>
        </p:nvSpPr>
        <p:spPr>
          <a:xfrm>
            <a:off x="293914" y="1234440"/>
            <a:ext cx="4186646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useUsers.js — Hook abstrae fetch y estado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export function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useUsers() {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[users, setUsers] = useState([]);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[loading, setLoading] = useState(true);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useEffect(() =&gt; {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Detalles ocultos al componente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fetch("/api/users")</a:t>
            </a:r>
          </a:p>
          <a:p>
            <a:pPr marL="54864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.then(r =&gt; r.json())</a:t>
            </a:r>
          </a:p>
          <a:p>
            <a:pPr marL="54864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.then(data =&gt; { setUsers(data); setLoading(false); });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}, []);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{ users, loading };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}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Componente: NO sabe cómo se obtienen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function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Dashboard() {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{ users, loading } = useUsers();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loading ? &lt;Spinner /&gt; : &lt;UserList users={users} /&gt;;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6" name="LabelRight"/>
          <p:cNvSpPr/>
          <p:nvPr/>
        </p:nvSpPr>
        <p:spPr>
          <a:xfrm>
            <a:off x="4663440" y="914400"/>
            <a:ext cx="4023360" cy="320040"/>
          </a:xfrm>
          <a:prstGeom prst="rect">
            <a:avLst/>
          </a:prstGeom>
          <a:solidFill>
            <a:srgbClr val="3572A5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FFFFFF"/>
                </a:solidFill>
                <a:latin typeface="Consolas" pitchFamily="49" charset="0"/>
              </a:rPr>
              <a:t>🐍  Python — Dataclass oculta BD</a:t>
            </a:r>
          </a:p>
        </p:txBody>
      </p:sp>
      <p:sp>
        <p:nvSpPr>
          <p:cNvPr id="7" name="CodePanelRight"/>
          <p:cNvSpPr/>
          <p:nvPr/>
        </p:nvSpPr>
        <p:spPr>
          <a:xfrm>
            <a:off x="4663440" y="1234440"/>
            <a:ext cx="4023360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models.py — Abstrae estructura interna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from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dataclasses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import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dataclass, field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BD93F9"/>
                </a:solidFill>
                <a:latin typeface="Consolas" pitchFamily="49" charset="0"/>
              </a:rPr>
              <a:t>@dataclass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class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UserDTO: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Solo expone lo necesario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id: int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name: str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email: str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password_hash oculto — no se expone!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BD93F9"/>
                </a:solidFill>
                <a:latin typeface="Consolas" pitchFamily="49" charset="0"/>
              </a:rPr>
              <a:t>@staticmethod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def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from_model(user):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UserDTO(</a:t>
            </a:r>
          </a:p>
          <a:p>
            <a:pPr marL="54864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id=user.id, name=user.name, email=user.email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)</a:t>
            </a:r>
          </a:p>
        </p:txBody>
      </p:sp>
      <p:sp>
        <p:nvSpPr>
          <p:cNvPr id="8" name="Callout"/>
          <p:cNvSpPr/>
          <p:nvPr/>
        </p:nvSpPr>
        <p:spPr>
          <a:xfrm>
            <a:off x="457200" y="4754280"/>
            <a:ext cx="8229600" cy="320040"/>
          </a:xfrm>
          <a:prstGeom prst="rect">
            <a:avLst/>
          </a:prstGeom>
          <a:solidFill>
            <a:srgbClr val="E8F5FD"/>
          </a:solidFill>
          <a:ln w="19050">
            <a:solidFill>
              <a:srgbClr val="00BCD4"/>
            </a:solidFill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🔒 Beneficio: </a:t>
            </a:r>
            <a:r>
              <a:rPr lang="es-PE" sz="1100" b="0" dirty="0">
                <a:solidFill>
                  <a:srgbClr val="333333"/>
                </a:solidFill>
                <a:latin typeface="Calibri" pitchFamily="34" charset="0"/>
              </a:rPr>
              <a:t>password_hash nunca llega al frontend. El componente React no necesita saber la fuente de datos — reduce superficie de ataque.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3: Modularity (Modularidad)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el sistema en módulos independientes con responsabilidades bien definidas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393192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relacionada agrupada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Más fácil de auditar y proteger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28600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4754880" y="2286000"/>
            <a:ext cx="393192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4937760" y="2423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3776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Mínimas dependencias entre módulos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Fallas aisladas, no se propagan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5"/>
          <p:cNvSpPr/>
          <p:nvPr/>
        </p:nvSpPr>
        <p:spPr>
          <a:xfrm>
            <a:off x="457200" y="3383280"/>
            <a:ext cx="393192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640080" y="3520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Claras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0080" y="37947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bien definidos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40233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Validación en puntos de entrada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3383280"/>
            <a:ext cx="393192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Shape 20"/>
          <p:cNvSpPr/>
          <p:nvPr/>
        </p:nvSpPr>
        <p:spPr>
          <a:xfrm>
            <a:off x="4754880" y="3383280"/>
            <a:ext cx="3931920" cy="7315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4937760" y="3520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Encapsulación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937760" y="37947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interno protegido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40233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Previene accesos no autorizados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2400" b="1" dirty="0">
                <a:solidFill>
                  <a:srgbClr val="1E2761"/>
                </a:solidFill>
                <a:latin typeface="Arial Black" pitchFamily="34" charset="0"/>
              </a:rPr>
              <a:t>Código Práctico: Modularidad</a:t>
            </a:r>
            <a:br>
              <a:rPr lang="es-PE" sz="1800" b="0" dirty="0">
                <a:solidFill>
                  <a:srgbClr val="555555"/>
                </a:solidFill>
                <a:latin typeface="Calibri" pitchFamily="34" charset="0"/>
              </a:rPr>
            </a:br>
            <a:r>
              <a:rPr lang="es-PE" sz="1800" b="0" dirty="0">
                <a:solidFill>
                  <a:srgbClr val="555555"/>
                </a:solidFill>
                <a:latin typeface="Calibri" pitchFamily="34" charset="0"/>
              </a:rPr>
              <a:t>Alta cohesión, bajo acoplamiento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36022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LabelLeft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solidFill>
            <a:srgbClr val="3572A5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FFFFFF"/>
                </a:solidFill>
                <a:latin typeface="Consolas" pitchFamily="49" charset="0"/>
              </a:rPr>
              <a:t>🐍  auth_module.py — Alta cohesión</a:t>
            </a:r>
          </a:p>
        </p:txBody>
      </p:sp>
      <p:sp>
        <p:nvSpPr>
          <p:cNvPr id="5" name="CodeLeft"/>
          <p:cNvSpPr/>
          <p:nvPr/>
        </p:nvSpPr>
        <p:spPr>
          <a:xfrm>
            <a:off x="457200" y="1234440"/>
            <a:ext cx="4023360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Solo responsabilidad: autenticación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import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bcrypt, jwt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class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AuthModule: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Cohesion: todo lo de auth aquí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def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login(self, email, password):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user = self._find_user(email)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if not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self._verify(password, user.hash):</a:t>
            </a:r>
          </a:p>
          <a:p>
            <a:pPr marL="54864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raise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Unauthorized("Credenciales inválidas")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self._generate_token(user.id)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def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verify_token(self, token):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jwt.decode(token, SECRET_KEY)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_find_user, _verify: métodos privados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Estado interno ENCAPSULADO</a:t>
            </a:r>
          </a:p>
        </p:txBody>
      </p:sp>
      <p:sp>
        <p:nvSpPr>
          <p:cNvPr id="6" name="LabelRight"/>
          <p:cNvSpPr/>
          <p:nvPr/>
        </p:nvSpPr>
        <p:spPr>
          <a:xfrm>
            <a:off x="4663440" y="914400"/>
            <a:ext cx="4134394" cy="320040"/>
          </a:xfrm>
          <a:prstGeom prst="rect">
            <a:avLst/>
          </a:prstGeom>
          <a:solidFill>
            <a:srgbClr val="61DAFB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1A1A2E"/>
                </a:solidFill>
                <a:latin typeface="Consolas" pitchFamily="49" charset="0"/>
              </a:rPr>
              <a:t>⚛  AuthContext.jsx — Bajo acoplamiento</a:t>
            </a:r>
          </a:p>
        </p:txBody>
      </p:sp>
      <p:sp>
        <p:nvSpPr>
          <p:cNvPr id="7" name="CodeRight"/>
          <p:cNvSpPr/>
          <p:nvPr/>
        </p:nvSpPr>
        <p:spPr>
          <a:xfrm>
            <a:off x="4663440" y="1234440"/>
            <a:ext cx="4134394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Módulo React: solo sabe de UI auth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AuthContext = createContext();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export function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AuthProvider({ children }) {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[user, setUser] = useState(null);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login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 = async (creds) =&gt; {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res = await api.post("/auth/login", creds);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setUser(res.data.user);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};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(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&lt;AuthContext.Provider value={{ user, login }}&gt;</a:t>
            </a:r>
          </a:p>
          <a:p>
            <a:pPr marL="54864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{children}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&lt;/AuthContext.Provider&gt;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);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Callout"/>
          <p:cNvSpPr/>
          <p:nvPr/>
        </p:nvSpPr>
        <p:spPr>
          <a:xfrm>
            <a:off x="457200" y="4754280"/>
            <a:ext cx="8229600" cy="274638"/>
          </a:xfrm>
          <a:prstGeom prst="rect">
            <a:avLst/>
          </a:prstGeom>
          <a:solidFill>
            <a:srgbClr val="E8F5FD"/>
          </a:solidFill>
          <a:ln w="19050">
            <a:solidFill>
              <a:srgbClr val="00BCD4"/>
            </a:solidFill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🔒 Beneficio: </a:t>
            </a:r>
            <a:r>
              <a:rPr lang="es-PE" sz="1100" b="0" dirty="0">
                <a:solidFill>
                  <a:srgbClr val="333333"/>
                </a:solidFill>
                <a:latin typeface="Calibri" pitchFamily="34" charset="0"/>
              </a:rPr>
              <a:t>Cambiar bcrypt por argon2 en Python solo afecta AuthModule. El resto del sistema no se toca — bajo acoplamiento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Patrones de Arquitectura Segura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/ MVVM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presentación-lógica-datos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463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Validación centralizada, UI no accede a datos directamente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entrada para servicios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Autenticación, rate limiting, logging centralizado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independientes y especializados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3017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Aislamiento de fallos, escalado de seguridad por servicio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73152" cy="6400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(Backend for Frontend)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específico para cada cliente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794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Exposición mínima de datos según necesidad del cliente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6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2400" b="1" dirty="0">
                <a:solidFill>
                  <a:srgbClr val="1E2761"/>
                </a:solidFill>
                <a:latin typeface="Arial Black" pitchFamily="34" charset="0"/>
              </a:rPr>
              <a:t>Código Práctico: API Gateway</a:t>
            </a:r>
            <a:r>
              <a:rPr lang="es-PE" sz="1800" b="0" dirty="0">
                <a:solidFill>
                  <a:srgbClr val="555555"/>
                </a:solidFill>
                <a:latin typeface="Calibri" pitchFamily="34" charset="0"/>
              </a:rPr>
              <a:t>  — Punto único de seguridad (Python FastAPI)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LabelLeft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solidFill>
            <a:srgbClr val="3572A5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FFFFFF"/>
                </a:solidFill>
                <a:latin typeface="Consolas" pitchFamily="49" charset="0"/>
              </a:rPr>
              <a:t>🐍  gateway.py — Auth + Rate Limiting</a:t>
            </a:r>
          </a:p>
        </p:txBody>
      </p:sp>
      <p:sp>
        <p:nvSpPr>
          <p:cNvPr id="5" name="CodeLeft"/>
          <p:cNvSpPr/>
          <p:nvPr/>
        </p:nvSpPr>
        <p:spPr>
          <a:xfrm>
            <a:off x="457200" y="1234440"/>
            <a:ext cx="4023360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Middleware centralizado en Gateway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from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fastapi </a:t>
            </a: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import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FastAPI, Request, HTTPException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app = FastAPI()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BD93F9"/>
                </a:solidFill>
                <a:latin typeface="Consolas" pitchFamily="49" charset="0"/>
              </a:rPr>
              <a:t>@app.middleware("http")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async def </a:t>
            </a:r>
            <a:r>
              <a:rPr lang="es-PE" sz="1000" b="0" dirty="0">
                <a:solidFill>
                  <a:srgbClr val="50FA7B"/>
                </a:solidFill>
                <a:latin typeface="Consolas" pitchFamily="49" charset="0"/>
              </a:rPr>
              <a:t>security_middleware(req, call_next):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1. Rate limiting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if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rate_limiter.is_blocked(req.client.host):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raise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HTTPException(429, "Rate limit exceeded")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2. Validar JWT en Gateway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token = req.headers.get("Authorization")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if not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auth_service.verify(token):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raise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HTTPException(401, "No autorizado")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18288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# 3. Logging centralizado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logger.info(f"{req.method} {req.url}")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await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call_next(req)</a:t>
            </a:r>
          </a:p>
        </p:txBody>
      </p:sp>
      <p:sp>
        <p:nvSpPr>
          <p:cNvPr id="6" name="LabelRight"/>
          <p:cNvSpPr/>
          <p:nvPr/>
        </p:nvSpPr>
        <p:spPr>
          <a:xfrm>
            <a:off x="4663440" y="914400"/>
            <a:ext cx="4023360" cy="320040"/>
          </a:xfrm>
          <a:prstGeom prst="rect">
            <a:avLst/>
          </a:prstGeom>
          <a:solidFill>
            <a:srgbClr val="61DAFB"/>
          </a:solidFill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s-PE" sz="1400" b="1" dirty="0">
                <a:solidFill>
                  <a:srgbClr val="1A1A2E"/>
                </a:solidFill>
                <a:latin typeface="Consolas" pitchFamily="49" charset="0"/>
              </a:rPr>
              <a:t>⚛  api.js — Cliente pasa por Gateway</a:t>
            </a:r>
          </a:p>
        </p:txBody>
      </p:sp>
      <p:sp>
        <p:nvSpPr>
          <p:cNvPr id="7" name="CodeRight"/>
          <p:cNvSpPr/>
          <p:nvPr/>
        </p:nvSpPr>
        <p:spPr>
          <a:xfrm>
            <a:off x="4663440" y="1234440"/>
            <a:ext cx="4023360" cy="3429000"/>
          </a:xfrm>
          <a:prstGeom prst="rect">
            <a:avLst/>
          </a:prstGeom>
          <a:solidFill>
            <a:srgbClr val="1E1E2E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Todas las llamadas pasan por gateway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GATEWAY = "https://api.miapp.com";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api = axios.create({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baseURL: GATEWAY,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});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Interceptor: adjunta JWT automáticamente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api.interceptors.request.use(config =&gt; {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const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token = getToken();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if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(token)</a:t>
            </a:r>
          </a:p>
          <a:p>
            <a:pPr marL="36576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config.headers.Authorization = `Bearer ${token}`;</a:t>
            </a:r>
          </a:p>
          <a:p>
            <a:pPr marL="182880" indent="0">
              <a:buNone/>
            </a:pPr>
            <a:r>
              <a:rPr lang="es-PE" sz="1000" b="0" dirty="0">
                <a:solidFill>
                  <a:srgbClr val="FF79C6"/>
                </a:solidFill>
                <a:latin typeface="Consolas" pitchFamily="49" charset="0"/>
              </a:rPr>
              <a:t>return </a:t>
            </a: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config;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});</a:t>
            </a:r>
          </a:p>
          <a:p>
            <a:pPr marL="0" indent="0">
              <a:buNone/>
            </a:pPr>
            <a:endParaRPr lang="es-PE" sz="1000" dirty="0">
              <a:latin typeface="Consolas" pitchFamily="49" charset="0"/>
            </a:endParaRPr>
          </a:p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Uso: ningún componente llama directo a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microservicios — SIEMPRE pasa por gateway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api.get("/products")  </a:t>
            </a: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via gateway</a:t>
            </a:r>
          </a:p>
          <a:p>
            <a:pPr marL="0" indent="0">
              <a:buNone/>
            </a:pPr>
            <a:r>
              <a:rPr lang="es-PE" sz="1000" b="0" dirty="0">
                <a:solidFill>
                  <a:srgbClr val="F8F8F2"/>
                </a:solidFill>
                <a:latin typeface="Consolas" pitchFamily="49" charset="0"/>
              </a:rPr>
              <a:t>api.post("/payments", data)  </a:t>
            </a:r>
            <a:r>
              <a:rPr lang="es-PE" sz="1000" b="0" dirty="0">
                <a:solidFill>
                  <a:srgbClr val="6272A4"/>
                </a:solidFill>
                <a:latin typeface="Consolas" pitchFamily="49" charset="0"/>
              </a:rPr>
              <a:t>// via gateway</a:t>
            </a:r>
          </a:p>
        </p:txBody>
      </p:sp>
      <p:sp>
        <p:nvSpPr>
          <p:cNvPr id="8" name="Callout"/>
          <p:cNvSpPr/>
          <p:nvPr/>
        </p:nvSpPr>
        <p:spPr>
          <a:xfrm>
            <a:off x="457200" y="4754280"/>
            <a:ext cx="8229600" cy="274638"/>
          </a:xfrm>
          <a:prstGeom prst="rect">
            <a:avLst/>
          </a:prstGeom>
          <a:solidFill>
            <a:srgbClr val="E8F5FD"/>
          </a:solidFill>
          <a:ln w="19050">
            <a:solidFill>
              <a:srgbClr val="00BCD4"/>
            </a:solidFill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s-PE" sz="1100" b="1" dirty="0">
                <a:solidFill>
                  <a:srgbClr val="1E2761"/>
                </a:solidFill>
                <a:latin typeface="Calibri" pitchFamily="34" charset="0"/>
              </a:rPr>
              <a:t>🔒 Beneficio: </a:t>
            </a:r>
            <a:r>
              <a:rPr lang="es-PE" sz="1100" b="0" dirty="0">
                <a:solidFill>
                  <a:srgbClr val="333333"/>
                </a:solidFill>
                <a:latin typeface="Calibri" pitchFamily="34" charset="0"/>
              </a:rPr>
              <a:t>Rate limiting, JWT y logging en un solo punto. Los microservicios confían en el gateway — no replican lógica de seguridad.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Práctico: E-commerce Seguro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(React/Angular)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básica UI, no lógica de negocio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057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rate limiting, routing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Microservicio: Productos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697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búsqueda (solo lectura)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Microservicio: Carrito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carrito, cálculo precios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Microservicio: Pagos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977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PCI-DSS, alta seguridad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Anti-Patrones Arquitectónicos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God Object / Monolito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Toda la lógica en un solo componente gigante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Riesgo: Un bug compromete todo el sistema, imposible de auditar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Spaghetti Code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Dependencias circulares, sin separación de capas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Riesgo: No se puede rastrear flujo, validaciones inconsistentes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E53935">
              <a:alpha val="9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Golden Hammer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Usar misma solución para todo sin evaluar contexto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Riesgo: Sobreingeniería o seguridad insuficiente según caso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God Object / Monolito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Problema: Toda la lógica en un solo componente · Riesgo: Un bug compromete todo el sistema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91440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MAL — God Class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8328" y="1481328"/>
            <a:ext cx="3986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UserManager 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⚠ Manejo de usuarios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createUser(data)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deleteUser(id)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⚠ Lógica de negocio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calculateDiscount()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applyTax(amount)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⚠ Envío de emails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sendWelcomeEmail()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sendPromoEmail()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⚠ Acceso a BD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connectDB()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runQuery(sql)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⚠ Reportes + exportación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generatePDF()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exportCSV()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2000+ líneas 😱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91440" cy="3383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64608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BIEN — Responsabilidad Única (SRP)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18888" y="1481328"/>
            <a:ext cx="3986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clase tiene UNA responsabilidad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UserService 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createUser(data)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deleteUser(id)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PricingService 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calculateDiscount()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applyTax(amount)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EmailService 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sendWelcomeEmail() { ...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Fácil de auditar ✓  Bajo acoplamiento ✓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Spaghetti Code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Dependencias circulares, sin separación de capas · Riesgo: Flujo imposible de rastrear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91440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MAL — Todo mezclado en un endpoint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8328" y="1481328"/>
            <a:ext cx="3986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Router → BD → Negocio → Email todo junto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app.post('/purchase', (req, res) =&gt;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db.query(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`SELECT * FROM users WHERE id=\${req.body.id}`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(user.balance &gt;= req.body.amount)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db.query(`UPDATE users SET ...`);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db.query(`INSERT INTO orders ...`);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🍝 Lógica de descuento inline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disc = user.isPremium ? 0.9 : 1;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sendMail(user.email, disc * amount);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⚠ Validación al FINAL (tarde)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(!req.body.amount) return res.error;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ok: true });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91440" cy="3383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64608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BIEN — Capas separadas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18888" y="1481328"/>
            <a:ext cx="3986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capa con su responsabilidad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Validación primero (Controller)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app.post('/purchase', validate, async (req, res) =&gt;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purchaseService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.execute(req.body);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res.json(result);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Lógica de negocio (Service)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PurchaseService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execute({ userId, amount })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userRepo.find(userId);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price = pricingService.calc(amount);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orderRepo.create(user, price);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emailService.notify(user);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Flujo trazable de inicio a fin ✓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00A"/>
          </a:solidFill>
          <a:ln w="12700">
            <a:solidFill>
              <a:srgbClr val="0A100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  Golden Hammer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Problema: Usar la misma solución para todo · Riesgo: Sobreingeniería o seguridad insuficiente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91440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MAL — Microservicios para TODO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8328" y="1481328"/>
            <a:ext cx="3986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Equipo de 3 devs → Microservicios 🔨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porque 'así lo hicimos en el banco'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AuthService       → pod k8s #1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UserService       → pod k8s #2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NotificationSvc   → pod k8s #3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ReportService     → pod k8s #4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ConfigService     → pod k8s #5 😱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 Latencia entre cada llamada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 5 deploys por feature simple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 Distributed tracing complejo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 Equipo bloqueado en infra, no features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91440" cy="3383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64608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BIEN — Evalúa el contexto primero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20624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18888" y="1481328"/>
            <a:ext cx="3986784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Elige según complejidad real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Startup / equipo pequeño → Monolito modular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modules/auth/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modules/users/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modules/reports/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shared/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Escala cuando el dolor es REAL: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(módulo.escala !== módulo.otro) {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Entonces extrae microservicio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extractService(módulo);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'Make it work, then make it scale' ✓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Clave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1554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proporciona defensa en profundidad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oculta complejidad y reduce superficie de ataque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1460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0240" y="2560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 permite aislamiento de fallos y seguridad granular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1752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920240" y="3017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patrones arquitectónicos según contexto y riesgo</a:t>
            </a:r>
            <a:endParaRPr lang="en-US" sz="1500" dirty="0"/>
          </a:p>
        </p:txBody>
      </p:sp>
      <p:sp>
        <p:nvSpPr>
          <p:cNvPr id="13" name="Shape 6"/>
          <p:cNvSpPr/>
          <p:nvPr/>
        </p:nvSpPr>
        <p:spPr>
          <a:xfrm>
            <a:off x="1828800" y="3596640"/>
            <a:ext cx="5486400" cy="64008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7"/>
          <p:cNvSpPr/>
          <p:nvPr/>
        </p:nvSpPr>
        <p:spPr>
          <a:xfrm>
            <a:off x="2011680" y="3733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arquitectura es la base de la seguridad del sistema"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D47A1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 Segura - Sesión 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2246</Words>
  <Application>Microsoft Office PowerPoint</Application>
  <PresentationFormat>Presentación en pantalla (16:9)</PresentationFormat>
  <Paragraphs>367</Paragraphs>
  <Slides>18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Software Segura - Sesión 6</dc:title>
  <dc:subject>PptxGenJS Presentation</dc:subject>
  <dc:creator>Instructor</dc:creator>
  <cp:lastModifiedBy>Diego Alonso Garate Polar</cp:lastModifiedBy>
  <cp:revision>1</cp:revision>
  <dcterms:created xsi:type="dcterms:W3CDTF">2026-01-29T03:08:08Z</dcterms:created>
  <dcterms:modified xsi:type="dcterms:W3CDTF">2026-05-05T20:14:58Z</dcterms:modified>
</cp:coreProperties>
</file>